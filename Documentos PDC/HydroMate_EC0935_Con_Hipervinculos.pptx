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43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C:\Formulaci&#243;n\E1P1_Plan_Basico_HydroMate.docx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C:\Formulaci&#243;n\E1P1_Plan_Basico_HydroMate.docx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C:\Formulaci&#243;n\E1P2_Reporte_Junta_Inicio_HydroMate.docx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hyperlink" Target="C:\Formulaci&#243;n\E2P1_Plan_Detallado_HydroMate.docx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hyperlink" Target="C:\Formulaci&#243;n\E2P1_Plan_Detallado_HydroMate.docx" TargetMode="External"/><Relationship Id="rId7" Type="http://schemas.openxmlformats.org/officeDocument/2006/relationships/hyperlink" Target="C:\Formulaci&#243;n\E2P2_Reporte_Junta_Presentacion_Plan_HydroMate.docx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hyperlink" Target="C:\Formulaci&#243;n\E3P1_Lista_Paquetes_Externos_HydroMate.docx" TargetMode="External"/><Relationship Id="rId8" Type="http://schemas.openxmlformats.org/officeDocument/2006/relationships/hyperlink" Target="C:\Formulaci&#243;n\E3P2_Lista_Proveedores_Calificados_HydroMate.docx" TargetMode="External"/><Relationship Id="rId9" Type="http://schemas.openxmlformats.org/officeDocument/2006/relationships/hyperlink" Target="C:\Formulaci&#243;n\E3P3_Descripcion_Trabajo_Proveedores_HydroMate.docx" TargetMode="External"/><Relationship Id="rId10" Type="http://schemas.openxmlformats.org/officeDocument/2006/relationships/hyperlink" Target="C:\Formulaci&#243;n\E3P5_Evidencias_Paquetes_Trabajo_HydroMate.docx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hyperlink" Target="C:\Formulaci&#243;n\E3P4_Lista_Verificacion_Avance_HydroMate.docx" TargetMode="External"/><Relationship Id="rId7" Type="http://schemas.openxmlformats.org/officeDocument/2006/relationships/hyperlink" Target="C:\Formulaci&#243;n\E3P5_Evidencias_Paquetes_Trabajo_HydroMate.docx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hyperlink" Target="C:\Formulaci&#243;n\E4P1_Listado_Cambios_Autorizados_HydroMate.docx" TargetMode="External"/><Relationship Id="rId6" Type="http://schemas.openxmlformats.org/officeDocument/2006/relationships/hyperlink" Target="C:\Formulaci&#243;n\E4P2_Reporte_Estado_Actual_HydroMate.docx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hyperlink" Target="C:\Formulaci&#243;n\E4P2_Reporte_Estado_Actual_HydroMate.docx" TargetMode="External"/><Relationship Id="rId7" Type="http://schemas.openxmlformats.org/officeDocument/2006/relationships/hyperlink" Target="C:\Formulaci&#243;n\E4P3_Verificacion_Paquetes_Terminados_HydroMate.docx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hyperlink" Target="C:\Formulaci&#243;n\E5P1_Reporte_Final_HydroMate.docx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hyperlink" Target="C:\Formulaci&#243;n\E5P1_Reporte_Final_HydroMate.docx" TargetMode="External"/><Relationship Id="rId7" Type="http://schemas.openxmlformats.org/officeDocument/2006/relationships/hyperlink" Target="C:\Formulaci&#243;n\E5P2_Reporte_Junta_Cierre_HydroMate.doc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09560" y="548640"/>
            <a:ext cx="3611880" cy="576072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E4ECEF">
                <a:alpha val="7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09560" y="548640"/>
            <a:ext cx="91440" cy="576072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hydromate_tower_cut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092" y="731520"/>
            <a:ext cx="2236536" cy="5349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40280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1572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2029968"/>
            <a:ext cx="6766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HydroMate: Torre Hidropónica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Inteligente Automatizada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777240" y="3355848"/>
            <a:ext cx="5349240" cy="0"/>
          </a:xfrm>
          <a:prstGeom prst="line">
            <a:avLst/>
          </a:prstGeom>
          <a:noFill/>
          <a:ln w="2794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361188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Presentación Ejecutiva - Proyecto EC0935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77240" y="4681728"/>
            <a:ext cx="438912" cy="4389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47640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5230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INICIAR</a:t>
            </a:r>
            <a:endParaRPr lang="en-US" sz="680" dirty="0"/>
          </a:p>
        </p:txBody>
      </p:sp>
      <p:sp>
        <p:nvSpPr>
          <p:cNvPr id="18" name="Shape 15"/>
          <p:cNvSpPr/>
          <p:nvPr/>
        </p:nvSpPr>
        <p:spPr>
          <a:xfrm>
            <a:off x="1261872" y="4901184"/>
            <a:ext cx="932688" cy="0"/>
          </a:xfrm>
          <a:prstGeom prst="line">
            <a:avLst/>
          </a:prstGeom>
          <a:noFill/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240280" y="4681728"/>
            <a:ext cx="438912" cy="4389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240280" y="47640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920240" y="5230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ORGANIZAR</a:t>
            </a:r>
            <a:endParaRPr lang="en-US" sz="680" dirty="0"/>
          </a:p>
        </p:txBody>
      </p:sp>
      <p:sp>
        <p:nvSpPr>
          <p:cNvPr id="22" name="Shape 19"/>
          <p:cNvSpPr/>
          <p:nvPr/>
        </p:nvSpPr>
        <p:spPr>
          <a:xfrm>
            <a:off x="2724912" y="4901184"/>
            <a:ext cx="932688" cy="0"/>
          </a:xfrm>
          <a:prstGeom prst="line">
            <a:avLst/>
          </a:prstGeom>
          <a:noFill/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703320" y="4681728"/>
            <a:ext cx="438912" cy="438912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703320" y="47640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383280" y="5230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4187952" y="4901184"/>
            <a:ext cx="932688" cy="0"/>
          </a:xfrm>
          <a:prstGeom prst="line">
            <a:avLst/>
          </a:prstGeom>
          <a:noFill/>
          <a:ln w="1524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166360" y="4681728"/>
            <a:ext cx="438912" cy="438912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166360" y="47640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46320" y="5230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VERIFICAR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5650992" y="4901184"/>
            <a:ext cx="932688" cy="0"/>
          </a:xfrm>
          <a:prstGeom prst="line">
            <a:avLst/>
          </a:prstGeom>
          <a:noFill/>
          <a:ln w="1524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629400" y="4681728"/>
            <a:ext cx="438912" cy="438912"/>
          </a:xfrm>
          <a:prstGeom prst="ellipse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629400" y="47640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309360" y="5230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FINALIZAR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>
            <a:off x="777240" y="63276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Líder de Proyecto: Kevin Osmar Valdez Meza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77240" y="59893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INICIAR → ORGANIZAR → IMPLEMENTAR → VERIFICAR → FINALIZAR</a:t>
            </a:r>
            <a:endParaRPr lang="en-US" sz="750" dirty="0"/>
          </a:p>
        </p:txBody>
      </p:sp>
      <p:sp>
        <p:nvSpPr>
          <p:cNvPr id="36" name="TextBox 35"/>
          <p:cNvSpPr txBox="1"/>
          <p:nvPr/>
        </p:nvSpPr>
        <p:spPr>
          <a:xfrm>
            <a:off x="640080" y="6510528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>
                <a:solidFill>
                  <a:srgbClr val="5A5A5A"/>
                </a:solidFill>
                <a:latin typeface="Arial"/>
              </a:rPr>
              <a:t>Durante la exposición, usa los botones “ABRIR” para mostrar las evidencias desde C:\Formulación.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INICIAR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Proyecto y objetivo</a:t>
            </a:r>
            <a:endParaRPr lang="en-US" sz="2000" dirty="0"/>
          </a:p>
        </p:txBody>
      </p:sp>
      <p:pic>
        <p:nvPicPr>
          <p:cNvPr id="7" name="Image 0" descr="/mnt/data/pptx_extract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2700">
            <a:solidFill>
              <a:srgbClr val="0277B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6072" y="1161288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OBJETIVO SMART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HydroMate automatiza una torre hidropónica vertical con control local e historial de datos.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359152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 ESP32 con control local.</a:t>
            </a:r>
            <a:endParaRPr lang="en-US" sz="1070" dirty="0"/>
          </a:p>
        </p:txBody>
      </p:sp>
      <p:sp>
        <p:nvSpPr>
          <p:cNvPr id="13" name="Shape 10"/>
          <p:cNvSpPr/>
          <p:nvPr/>
        </p:nvSpPr>
        <p:spPr>
          <a:xfrm>
            <a:off x="566928" y="2788920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2715768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Monitoreo: nivel, temperatura, pH, TDS/EC y luz.</a:t>
            </a:r>
            <a:endParaRPr lang="en-US" sz="1070" dirty="0"/>
          </a:p>
        </p:txBody>
      </p:sp>
      <p:sp>
        <p:nvSpPr>
          <p:cNvPr id="15" name="Shape 12"/>
          <p:cNvSpPr/>
          <p:nvPr/>
        </p:nvSpPr>
        <p:spPr>
          <a:xfrm>
            <a:off x="566928" y="3218688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2960" y="3145536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 objetivo: hasta 8 plantas.</a:t>
            </a:r>
            <a:endParaRPr lang="en-US" sz="1070" dirty="0"/>
          </a:p>
        </p:txBody>
      </p:sp>
      <p:sp>
        <p:nvSpPr>
          <p:cNvPr id="17" name="Shape 14"/>
          <p:cNvSpPr/>
          <p:nvPr/>
        </p:nvSpPr>
        <p:spPr>
          <a:xfrm>
            <a:off x="566928" y="3648456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22960" y="3575304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Presupuesto autorizado: $6,350 MXN.</a:t>
            </a:r>
            <a:endParaRPr lang="en-US" sz="1070" dirty="0"/>
          </a:p>
        </p:txBody>
      </p:sp>
      <p:sp>
        <p:nvSpPr>
          <p:cNvPr id="19" name="Shape 16"/>
          <p:cNvSpPr/>
          <p:nvPr/>
        </p:nvSpPr>
        <p:spPr>
          <a:xfrm>
            <a:off x="566928" y="4078224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22960" y="4005072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Cierre estimado: 11 de diciembre de 2026.</a:t>
            </a:r>
            <a:endParaRPr lang="en-US" sz="1070" dirty="0"/>
          </a:p>
        </p:txBody>
      </p:sp>
      <p:sp>
        <p:nvSpPr>
          <p:cNvPr id="21" name="Shape 18"/>
          <p:cNvSpPr/>
          <p:nvPr/>
        </p:nvSpPr>
        <p:spPr>
          <a:xfrm>
            <a:off x="566928" y="4507992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22960" y="443484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Producto: prototipo funcional con backend e interfaz.</a:t>
            </a:r>
            <a:endParaRPr lang="en-US" sz="1070" dirty="0"/>
          </a:p>
        </p:txBody>
      </p:sp>
      <p:sp>
        <p:nvSpPr>
          <p:cNvPr id="23" name="Shape 20"/>
          <p:cNvSpPr/>
          <p:nvPr/>
        </p:nvSpPr>
        <p:spPr>
          <a:xfrm>
            <a:off x="502920" y="5349240"/>
            <a:ext cx="11460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4360" y="5422392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94360" y="5696712"/>
            <a:ext cx="963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controlador</a:t>
            </a:r>
            <a:endParaRPr lang="en-US" sz="640" dirty="0"/>
          </a:p>
        </p:txBody>
      </p:sp>
      <p:sp>
        <p:nvSpPr>
          <p:cNvPr id="26" name="Shape 23"/>
          <p:cNvSpPr/>
          <p:nvPr/>
        </p:nvSpPr>
        <p:spPr>
          <a:xfrm>
            <a:off x="1758696" y="5349240"/>
            <a:ext cx="11460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850136" y="5422392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850136" y="5696712"/>
            <a:ext cx="963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plantas</a:t>
            </a:r>
            <a:endParaRPr lang="en-US" sz="640" dirty="0"/>
          </a:p>
        </p:txBody>
      </p:sp>
      <p:sp>
        <p:nvSpPr>
          <p:cNvPr id="29" name="Shape 26"/>
          <p:cNvSpPr/>
          <p:nvPr/>
        </p:nvSpPr>
        <p:spPr>
          <a:xfrm>
            <a:off x="3014472" y="5349240"/>
            <a:ext cx="11460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105912" y="5422392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$6,350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105912" y="5696712"/>
            <a:ext cx="963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MXN</a:t>
            </a:r>
            <a:endParaRPr lang="en-US" sz="640" dirty="0"/>
          </a:p>
        </p:txBody>
      </p:sp>
      <p:sp>
        <p:nvSpPr>
          <p:cNvPr id="32" name="Shape 29">
            <a:hlinkClick r:id="rId5"/>
          </p:cNvPr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" descr="/mnt/data/pptx_extract/ppt/media/image-2-2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314" y="1243584"/>
            <a:ext cx="3561172" cy="4608576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>
            <a:hlinkClick r:id="rId5"/>
          </p:cNvPr>
          <p:cNvSpPr/>
          <p:nvPr/>
        </p:nvSpPr>
        <p:spPr>
          <a:xfrm>
            <a:off x="5376672" y="5742432"/>
            <a:ext cx="3246120" cy="28346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txBody>
          <a:bodyPr wrap="square" lIns="64008" tIns="27432" rIns="64008" bIns="27432" rtlCol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</a:rPr>
              <a:t>ABRIR E1P1 · Plan básico</a:t>
            </a:r>
            <a:endParaRPr lang="en-US" sz="650" dirty="0"/>
          </a:p>
        </p:txBody>
      </p:sp>
      <p:sp>
        <p:nvSpPr>
          <p:cNvPr id="37" name="Text 33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E1P1 · PLAN BÁSICO</a:t>
            </a:r>
            <a:endParaRPr lang="en-US" sz="650" dirty="0"/>
          </a:p>
        </p:txBody>
      </p:sp>
      <p:sp>
        <p:nvSpPr>
          <p:cNvPr id="38" name="Text 34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INICIAR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Alcance y limitantes</a:t>
            </a:r>
            <a:endParaRPr lang="en-US" sz="2000" dirty="0"/>
          </a:p>
        </p:txBody>
      </p:sp>
      <p:pic>
        <p:nvPicPr>
          <p:cNvPr id="7" name="Image 0" descr="/mnt/data/pptx_extract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E8F5E9"/>
          </a:solidFill>
          <a:ln w="12700">
            <a:solidFill>
              <a:srgbClr val="2E7D3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6072" y="1161288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ALCANCE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66928" y="1645920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1572768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Planeación, torre física, electrónica, firmware, plataforma y pruebas.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" y="2212848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2139696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Expectativas: prototipo integrado y documentado con evidencias.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2779776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270662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Supuestos: componentes disponibles, Wi‑Fi 2.4 GHz y herramientas de trabajo.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749040"/>
            <a:ext cx="155448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13232" y="3822192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1261872" y="391363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semanas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académicas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331720" y="3749040"/>
            <a:ext cx="187452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450592" y="38221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torre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246120" y="391363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prototipo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académico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66928" y="50474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Limitantes clave: no se valida operación industrial ni certificación comercial; la medición se realiza con sensores accesibles.</a:t>
            </a:r>
            <a:endParaRPr lang="en-US" sz="950" dirty="0"/>
          </a:p>
        </p:txBody>
      </p:sp>
      <p:sp>
        <p:nvSpPr>
          <p:cNvPr id="23" name="Shape 20">
            <a:hlinkClick r:id="rId5"/>
          </p:cNvPr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/mnt/data/pptx_extract/ppt/media/image-3-2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314" y="1243584"/>
            <a:ext cx="3561172" cy="4608576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>
            <a:hlinkClick r:id="rId5"/>
          </p:cNvPr>
          <p:cNvSpPr/>
          <p:nvPr/>
        </p:nvSpPr>
        <p:spPr>
          <a:xfrm>
            <a:off x="5376672" y="5742432"/>
            <a:ext cx="3246120" cy="28346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txBody>
          <a:bodyPr wrap="square" lIns="64008" tIns="27432" rIns="64008" bIns="27432" rtlCol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</a:rPr>
              <a:t>ABRIR E1P1 · Plan básico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E1P1 · PLAN BÁSICO + ANTECEDENTES</a:t>
            </a:r>
            <a:endParaRPr lang="en-US" sz="650" dirty="0"/>
          </a:p>
        </p:txBody>
      </p:sp>
      <p:sp>
        <p:nvSpPr>
          <p:cNvPr id="29" name="Text 25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INICIAR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Inicio formal</a:t>
            </a:r>
            <a:endParaRPr lang="en-US" sz="2000" dirty="0"/>
          </a:p>
        </p:txBody>
      </p:sp>
      <p:pic>
        <p:nvPicPr>
          <p:cNvPr id="7" name="Image 0" descr="/mnt/data/pptx_extract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216152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9808" y="13624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septiembre 2026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834640" y="14081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junta de inicio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" y="2496312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242316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formaliza alcance, roles y presupuesto del proyecto.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6928" y="2935224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2862072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Participan Kevin, Mariana y Diego.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6928" y="3374136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2960" y="3300984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Presupuesto base aprobado: $6,350 MXN.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" y="3813048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22960" y="3739896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Siguiente reunión: 25 septiembre 2026.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66928" y="4572000"/>
            <a:ext cx="3840480" cy="786384"/>
          </a:xfrm>
          <a:prstGeom prst="roundRect">
            <a:avLst>
              <a:gd name="adj" fmla="val 11628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49808" y="468172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ACUERDO CRÍTICO</a:t>
            </a:r>
            <a:endParaRPr lang="en-US" sz="740" dirty="0"/>
          </a:p>
        </p:txBody>
      </p:sp>
      <p:sp>
        <p:nvSpPr>
          <p:cNvPr id="21" name="Text 18"/>
          <p:cNvSpPr/>
          <p:nvPr/>
        </p:nvSpPr>
        <p:spPr>
          <a:xfrm>
            <a:off x="749808" y="488289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ESP32 debe mantener riego, protección, iluminación y dosificación aunque falle Internet.</a:t>
            </a:r>
            <a:endParaRPr lang="en-US" sz="930" dirty="0"/>
          </a:p>
        </p:txBody>
      </p:sp>
      <p:sp>
        <p:nvSpPr>
          <p:cNvPr id="22" name="Shape 19">
            <a:hlinkClick r:id="rId5"/>
          </p:cNvPr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/mnt/data/pptx_extract/ppt/media/image-4-2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314" y="1243584"/>
            <a:ext cx="3561172" cy="460857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>
            <a:hlinkClick r:id="rId5"/>
          </p:cNvPr>
          <p:cNvSpPr/>
          <p:nvPr/>
        </p:nvSpPr>
        <p:spPr>
          <a:xfrm>
            <a:off x="5376672" y="5742432"/>
            <a:ext cx="3246120" cy="28346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txBody>
          <a:bodyPr wrap="square" lIns="64008" tIns="27432" rIns="64008" bIns="27432" rtlCol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</a:rPr>
              <a:t>ABRIR E1P2 · Junta inicio</a:t>
            </a:r>
            <a:endParaRPr lang="en-US" sz="650" dirty="0"/>
          </a:p>
        </p:txBody>
      </p:sp>
      <p:sp>
        <p:nvSpPr>
          <p:cNvPr id="27" name="Text 23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E1P2 · REPORTE DE JUNTA DE INICIO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Plan detallado y riesgos</a:t>
            </a:r>
            <a:endParaRPr lang="en-US" sz="2000" dirty="0"/>
          </a:p>
        </p:txBody>
      </p:sp>
      <p:pic>
        <p:nvPicPr>
          <p:cNvPr id="7" name="Image 0" descr="/mnt/data/pptx_extract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E8F5E9"/>
          </a:solidFill>
          <a:ln w="12700">
            <a:solidFill>
              <a:srgbClr val="2E7D3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6072" y="116128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PAQUETES DE TRABAJO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66928" y="1572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PT1 Planeación y arquitectura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66928" y="19202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PT2 Torre y circuito hidráulico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66928" y="226771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PT3 Fabricación 3D y mecanizado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66928" y="26151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PT4 Electrónica, sensores y potencia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66928" y="296265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PT5 PCB/arnés de potencia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578608" y="1572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PT6 Firmware y control local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578608" y="19202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PT7 Backend, BD e interfaz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578608" y="226771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PT8 Dosificación e iluminación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578608" y="26151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PT9 Integración y cierre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66928" y="3566160"/>
            <a:ext cx="384048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49808" y="3703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Riesgos priorizados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49808" y="4114800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05840" y="4041648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Fugas u obstrucciones hidráulicas.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749808" y="4480560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05840" y="4407408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Lecturas inestables pH/TDS.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749808" y="4846320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05840" y="4773168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Sobredosificación o pérdida de conexión.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566928" y="5440680"/>
            <a:ext cx="117652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58368" y="5513832"/>
            <a:ext cx="993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58368" y="5788152"/>
            <a:ext cx="993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semanas</a:t>
            </a:r>
            <a:endParaRPr lang="en-US" sz="640" dirty="0"/>
          </a:p>
        </p:txBody>
      </p:sp>
      <p:sp>
        <p:nvSpPr>
          <p:cNvPr id="30" name="Shape 27"/>
          <p:cNvSpPr/>
          <p:nvPr/>
        </p:nvSpPr>
        <p:spPr>
          <a:xfrm>
            <a:off x="1853184" y="5440680"/>
            <a:ext cx="117652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944624" y="5513832"/>
            <a:ext cx="993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$6,350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944624" y="5788152"/>
            <a:ext cx="993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presupuesto</a:t>
            </a:r>
            <a:endParaRPr lang="en-US" sz="640" dirty="0"/>
          </a:p>
        </p:txBody>
      </p:sp>
      <p:sp>
        <p:nvSpPr>
          <p:cNvPr id="33" name="Shape 30"/>
          <p:cNvSpPr/>
          <p:nvPr/>
        </p:nvSpPr>
        <p:spPr>
          <a:xfrm>
            <a:off x="3139440" y="5440680"/>
            <a:ext cx="117652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230880" y="5513832"/>
            <a:ext cx="993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3230880" y="5788152"/>
            <a:ext cx="993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riesgos</a:t>
            </a:r>
            <a:endParaRPr lang="en-US" sz="640" dirty="0"/>
          </a:p>
        </p:txBody>
      </p:sp>
      <p:sp>
        <p:nvSpPr>
          <p:cNvPr id="36" name="Shape 33">
            <a:hlinkClick r:id="rId5"/>
          </p:cNvPr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1" descr="/mnt/data/pptx_extract/ppt/media/image-5-2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314" y="1243584"/>
            <a:ext cx="3561172" cy="4608576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>
            <a:hlinkClick r:id="rId5"/>
          </p:cNvPr>
          <p:cNvSpPr/>
          <p:nvPr/>
        </p:nvSpPr>
        <p:spPr>
          <a:xfrm>
            <a:off x="5376672" y="5742432"/>
            <a:ext cx="3246120" cy="28346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txBody>
          <a:bodyPr wrap="square" lIns="64008" tIns="27432" rIns="64008" bIns="27432" rtlCol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</a:rPr>
              <a:t>ABRIR E2P1 · Plan detallado</a:t>
            </a:r>
            <a:endParaRPr lang="en-US" sz="650" dirty="0"/>
          </a:p>
        </p:txBody>
      </p:sp>
      <p:sp>
        <p:nvSpPr>
          <p:cNvPr id="41" name="Text 37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E2P1 · PLAN DETALLADO</a:t>
            </a:r>
            <a:endParaRPr lang="en-US" sz="650" dirty="0"/>
          </a:p>
        </p:txBody>
      </p:sp>
      <p:sp>
        <p:nvSpPr>
          <p:cNvPr id="42" name="Text 38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Organización del equipo</a:t>
            </a:r>
            <a:endParaRPr lang="en-US" sz="2000" dirty="0"/>
          </a:p>
        </p:txBody>
      </p:sp>
      <p:pic>
        <p:nvPicPr>
          <p:cNvPr id="7" name="Image 0" descr="/mnt/data/pptx_extract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170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Roles y responsabilidades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3474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" y="1984248"/>
            <a:ext cx="438912" cy="4389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205740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44752" y="1956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Kevin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444752" y="222199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Dueño, líder e integración general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731520" y="3154680"/>
            <a:ext cx="3474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68680" y="3310128"/>
            <a:ext cx="438912" cy="438912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8680" y="33832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444752" y="32826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Mariana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444752" y="354787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Criterios hidropónicos y perfiles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31520" y="4480560"/>
            <a:ext cx="3474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68680" y="4636008"/>
            <a:ext cx="438912" cy="438912"/>
          </a:xfrm>
          <a:prstGeom prst="ellipse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68680" y="470916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444752" y="46085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Diego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444752" y="487375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Revisión electrónica y seguridad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50976" y="2578608"/>
            <a:ext cx="0" cy="484632"/>
          </a:xfrm>
          <a:prstGeom prst="line">
            <a:avLst/>
          </a:prstGeom>
          <a:noFill/>
          <a:ln w="1524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50976" y="3904488"/>
            <a:ext cx="0" cy="484632"/>
          </a:xfrm>
          <a:prstGeom prst="line">
            <a:avLst/>
          </a:prstGeom>
          <a:noFill/>
          <a:ln w="1524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66928" y="5577840"/>
            <a:ext cx="3767328" cy="475488"/>
          </a:xfrm>
          <a:prstGeom prst="roundRect">
            <a:avLst>
              <a:gd name="adj" fmla="val 15385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49808" y="5696712"/>
            <a:ext cx="3364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Autorización: implementación aprobada a partir del 28/09/2026.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285232" y="1243584"/>
            <a:ext cx="6117336" cy="2221992"/>
          </a:xfrm>
          <a:prstGeom prst="roundRect">
            <a:avLst>
              <a:gd name="adj" fmla="val 2469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" descr="/mnt/data/pptx_extract/ppt/media/image-6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930" y="1316736"/>
            <a:ext cx="1603941" cy="2075688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5285232" y="3630168"/>
            <a:ext cx="6117336" cy="2221992"/>
          </a:xfrm>
          <a:prstGeom prst="roundRect">
            <a:avLst>
              <a:gd name="adj" fmla="val 2469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2" descr="/mnt/data/pptx_extract/ppt/media/image-6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930" y="3703320"/>
            <a:ext cx="1603941" cy="2075688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>
            <a:hlinkClick r:id="rId6"/>
          </p:cNvPr>
          <p:cNvSpPr/>
          <p:nvPr/>
        </p:nvSpPr>
        <p:spPr>
          <a:xfrm>
            <a:off x="5376672" y="5742432"/>
            <a:ext cx="2606040" cy="28346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txBody>
          <a:bodyPr wrap="square" lIns="64008" tIns="27432" rIns="64008" bIns="27432" rtlCol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</a:rPr>
              <a:t>ABRIR E2P1 · Plan detallado</a:t>
            </a:r>
            <a:endParaRPr lang="en-US" sz="650" dirty="0"/>
          </a:p>
        </p:txBody>
      </p:sp>
      <p:sp>
        <p:nvSpPr>
          <p:cNvPr id="36" name="Text 31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E2P1 + E2P2 · ORGANIZACIÓN Y AUTORIZACIÓN</a:t>
            </a:r>
            <a:endParaRPr lang="en-US" sz="650" dirty="0"/>
          </a:p>
        </p:txBody>
      </p:sp>
      <p:sp>
        <p:nvSpPr>
          <p:cNvPr id="37" name="Text 32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  <p:sp>
        <p:nvSpPr>
          <p:cNvPr id="38" name="Rounded Rectangle 37">
            <a:hlinkClick r:id="rId7"/>
          </p:cNvPr>
          <p:cNvSpPr/>
          <p:nvPr/>
        </p:nvSpPr>
        <p:spPr>
          <a:xfrm>
            <a:off x="8092440" y="5742432"/>
            <a:ext cx="2606040" cy="283464"/>
          </a:xfrm>
          <a:prstGeom prst="roundRect">
            <a:avLst/>
          </a:prstGeom>
          <a:solidFill>
            <a:srgbClr val="0277BD"/>
          </a:solidFill>
          <a:ln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ABRIR E2P2 · Junta presentación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 Proveedores externos</a:t>
            </a:r>
            <a:endParaRPr lang="en-US" sz="2000" dirty="0"/>
          </a:p>
        </p:txBody>
      </p:sp>
      <p:pic>
        <p:nvPicPr>
          <p:cNvPr id="7" name="Image 0" descr="/mnt/data/pptx_extract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2700">
            <a:solidFill>
              <a:srgbClr val="0277B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6072" y="11612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TRABAJO CONTRATADO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66928" y="1627632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66928" y="1627632"/>
            <a:ext cx="91440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04672" y="17922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Baja Maker 3D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4672" y="211226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PT3 · impresión y mecanizado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3310128" y="190195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$700 MXN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3044952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66928" y="3044952"/>
            <a:ext cx="91440" cy="105156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04672" y="320954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Ensamble PCB Tijuana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4672" y="352958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PT5 · PCB y arnés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3310128" y="331927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$650 MXN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66928" y="4873752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2960" y="480060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califican proveedores por experiencia, costo y tiempos.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566928" y="5184648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22960" y="511149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descripción de trabajo fija entregables y límites.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566928" y="5495544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22960" y="5422392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evidencias de avance se integran por paquete.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285232" y="1243584"/>
            <a:ext cx="6117336" cy="1463040"/>
          </a:xfrm>
          <a:prstGeom prst="roundRect">
            <a:avLst>
              <a:gd name="adj" fmla="val 3125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1" descr="/mnt/data/pptx_extract/ppt/media/image-7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029" y="1298448"/>
            <a:ext cx="1045741" cy="1353312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5285232" y="2816352"/>
            <a:ext cx="6117336" cy="1463040"/>
          </a:xfrm>
          <a:prstGeom prst="roundRect">
            <a:avLst>
              <a:gd name="adj" fmla="val 3125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/mnt/data/pptx_extract/ppt/media/image-7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1029" y="2871216"/>
            <a:ext cx="1045741" cy="1353312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5285232" y="4389120"/>
            <a:ext cx="6117336" cy="1463040"/>
          </a:xfrm>
          <a:prstGeom prst="roundRect">
            <a:avLst>
              <a:gd name="adj" fmla="val 3125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3" descr="/mnt/data/pptx_extract/ppt/media/image-7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1029" y="4443984"/>
            <a:ext cx="1045741" cy="135331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>
            <a:hlinkClick r:id="rId7"/>
          </p:cNvPr>
          <p:cNvSpPr/>
          <p:nvPr/>
        </p:nvSpPr>
        <p:spPr>
          <a:xfrm>
            <a:off x="5376672" y="5532120"/>
            <a:ext cx="2606040" cy="28346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txBody>
          <a:bodyPr wrap="square" lIns="64008" tIns="27432" rIns="64008" bIns="27432" rtlCol="0" anchor="ctr">
            <a:normAutofit/>
          </a:bodyPr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rial"/>
              </a:rPr>
              <a:t>ABRIR E3P1 · Paquetes externos</a:t>
            </a:r>
            <a:endParaRPr lang="en-US" sz="650" dirty="0"/>
          </a:p>
        </p:txBody>
      </p:sp>
      <p:sp>
        <p:nvSpPr>
          <p:cNvPr id="36" name="Text 30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PROVEEDORES + TRABAJO CONTRATADO + AVANCE + EVIDENCIAS</a:t>
            </a:r>
            <a:endParaRPr lang="en-US" sz="650" dirty="0"/>
          </a:p>
        </p:txBody>
      </p:sp>
      <p:sp>
        <p:nvSpPr>
          <p:cNvPr id="37" name="Text 31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  <p:sp>
        <p:nvSpPr>
          <p:cNvPr id="38" name="Rounded Rectangle 37">
            <a:hlinkClick r:id="rId8"/>
          </p:cNvPr>
          <p:cNvSpPr/>
          <p:nvPr/>
        </p:nvSpPr>
        <p:spPr>
          <a:xfrm>
            <a:off x="8092440" y="5532120"/>
            <a:ext cx="2606040" cy="283464"/>
          </a:xfrm>
          <a:prstGeom prst="roundRect">
            <a:avLst/>
          </a:prstGeom>
          <a:solidFill>
            <a:srgbClr val="0277BD"/>
          </a:solidFill>
          <a:ln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ABRIR E3P2 · Proveedores</a:t>
            </a:r>
          </a:p>
        </p:txBody>
      </p:sp>
      <p:sp>
        <p:nvSpPr>
          <p:cNvPr id="39" name="Rounded Rectangle 38">
            <a:hlinkClick r:id="rId9"/>
          </p:cNvPr>
          <p:cNvSpPr/>
          <p:nvPr/>
        </p:nvSpPr>
        <p:spPr>
          <a:xfrm>
            <a:off x="5376672" y="5843016"/>
            <a:ext cx="2606040" cy="283464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ABRIR E3P3 · Trabajo prov.</a:t>
            </a:r>
          </a:p>
        </p:txBody>
      </p:sp>
      <p:sp>
        <p:nvSpPr>
          <p:cNvPr id="40" name="Rounded Rectangle 39">
            <a:hlinkClick r:id="rId10"/>
          </p:cNvPr>
          <p:cNvSpPr/>
          <p:nvPr/>
        </p:nvSpPr>
        <p:spPr>
          <a:xfrm>
            <a:off x="8092440" y="5843016"/>
            <a:ext cx="2606040" cy="283464"/>
          </a:xfrm>
          <a:prstGeom prst="roundRect">
            <a:avLst/>
          </a:prstGeom>
          <a:solidFill>
            <a:srgbClr val="0277BD"/>
          </a:solidFill>
          <a:ln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ABRIR E3P5 · Evidencias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 Avance y control de cambios</a:t>
            </a:r>
            <a:endParaRPr lang="en-US" sz="2000" dirty="0"/>
          </a:p>
        </p:txBody>
      </p:sp>
      <p:pic>
        <p:nvPicPr>
          <p:cNvPr id="7" name="Image 0" descr="/mnt/data/pptx_extract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1965960" cy="256032"/>
          </a:xfrm>
          <a:prstGeom prst="roundRect">
            <a:avLst>
              <a:gd name="adj" fmla="val 28571"/>
            </a:avLst>
          </a:prstGeom>
          <a:solidFill>
            <a:srgbClr val="E8F5E9"/>
          </a:solidFill>
          <a:ln w="12700">
            <a:solidFill>
              <a:srgbClr val="2E7D3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6072" y="116128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CORTE: 30 OCTUBRE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66928" y="15819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PT1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2350008" y="1682496"/>
            <a:ext cx="1600200" cy="0"/>
          </a:xfrm>
          <a:prstGeom prst="line">
            <a:avLst/>
          </a:prstGeom>
          <a:noFill/>
          <a:ln w="69850">
            <a:solidFill>
              <a:srgbClr val="E7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350008" y="1600200"/>
            <a:ext cx="1600200" cy="164592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087368" y="158191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66928" y="2011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PT2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2350008" y="2112264"/>
            <a:ext cx="1600200" cy="0"/>
          </a:xfrm>
          <a:prstGeom prst="line">
            <a:avLst/>
          </a:prstGeom>
          <a:noFill/>
          <a:ln w="69850">
            <a:solidFill>
              <a:srgbClr val="E7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350008" y="2029968"/>
            <a:ext cx="1600200" cy="164592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087368" y="20116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66928" y="24414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PT3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2350008" y="2542032"/>
            <a:ext cx="1600200" cy="0"/>
          </a:xfrm>
          <a:prstGeom prst="line">
            <a:avLst/>
          </a:prstGeom>
          <a:noFill/>
          <a:ln w="69850">
            <a:solidFill>
              <a:srgbClr val="E7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350008" y="2459736"/>
            <a:ext cx="1600200" cy="164592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087368" y="24414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66928" y="28712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PT4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2350008" y="2971800"/>
            <a:ext cx="1600200" cy="0"/>
          </a:xfrm>
          <a:prstGeom prst="line">
            <a:avLst/>
          </a:prstGeom>
          <a:noFill/>
          <a:ln w="69850">
            <a:solidFill>
              <a:srgbClr val="E7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350008" y="2889504"/>
            <a:ext cx="88011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087368" y="28712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proceso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66928" y="33009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PT7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2350008" y="3401568"/>
            <a:ext cx="1600200" cy="0"/>
          </a:xfrm>
          <a:prstGeom prst="line">
            <a:avLst/>
          </a:prstGeom>
          <a:noFill/>
          <a:ln w="69850">
            <a:solidFill>
              <a:srgbClr val="E7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350008" y="3319272"/>
            <a:ext cx="720090" cy="164592"/>
          </a:xfrm>
          <a:prstGeom prst="roundRect">
            <a:avLst>
              <a:gd name="adj" fmla="val 22222"/>
            </a:avLst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087368" y="33009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proceso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566928" y="397764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FFF8E1"/>
          </a:solidFill>
          <a:ln w="12700">
            <a:solidFill>
              <a:srgbClr val="F3D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49808" y="413308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Cambio relevante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49808" y="43708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PT5 externo se canceló y su alcance se internalizó dentro de PT4.</a:t>
            </a:r>
            <a:endParaRPr lang="en-US" sz="920" dirty="0"/>
          </a:p>
        </p:txBody>
      </p:sp>
      <p:sp>
        <p:nvSpPr>
          <p:cNvPr id="33" name="Shape 30"/>
          <p:cNvSpPr/>
          <p:nvPr/>
        </p:nvSpPr>
        <p:spPr>
          <a:xfrm>
            <a:off x="566928" y="5166360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49808" y="528523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Seguimiento con lista de verificación y evidencias físicas.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285232" y="1243584"/>
            <a:ext cx="6117336" cy="2221992"/>
          </a:xfrm>
          <a:prstGeom prst="roundRect">
            <a:avLst>
              <a:gd name="adj" fmla="val 2469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1" descr="/mnt/data/pptx_extract/ppt/media/image-8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930" y="1316736"/>
            <a:ext cx="1603941" cy="2075688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5285232" y="3630168"/>
            <a:ext cx="6117336" cy="2221992"/>
          </a:xfrm>
          <a:prstGeom prst="roundRect">
            <a:avLst>
              <a:gd name="adj" fmla="val 2469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2" descr="/mnt/data/pptx_extract/ppt/media/image-8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930" y="3703320"/>
            <a:ext cx="1603941" cy="2075688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7">
            <a:hlinkClick r:id="rId6"/>
          </p:cNvPr>
          <p:cNvSpPr/>
          <p:nvPr/>
        </p:nvSpPr>
        <p:spPr>
          <a:xfrm>
            <a:off x="5376672" y="5742432"/>
            <a:ext cx="2606040" cy="28346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txBody>
          <a:bodyPr wrap="square" lIns="64008" tIns="27432" rIns="64008" bIns="27432" rtlCol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</a:rPr>
              <a:t>ABRIR E3P4 · Verificación avance</a:t>
            </a:r>
            <a:endParaRPr lang="en-US" sz="650" dirty="0"/>
          </a:p>
        </p:txBody>
      </p:sp>
      <p:sp>
        <p:nvSpPr>
          <p:cNvPr id="43" name="Text 38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E3P4 LISTA DE VERIFICACIÓN + E3P5 EVIDENCIAS</a:t>
            </a:r>
            <a:endParaRPr lang="en-US" sz="650" dirty="0"/>
          </a:p>
        </p:txBody>
      </p:sp>
      <p:sp>
        <p:nvSpPr>
          <p:cNvPr id="44" name="Text 39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  <p:sp>
        <p:nvSpPr>
          <p:cNvPr id="45" name="Rounded Rectangle 44">
            <a:hlinkClick r:id="rId7"/>
          </p:cNvPr>
          <p:cNvSpPr/>
          <p:nvPr/>
        </p:nvSpPr>
        <p:spPr>
          <a:xfrm>
            <a:off x="8092440" y="5742432"/>
            <a:ext cx="2606040" cy="283464"/>
          </a:xfrm>
          <a:prstGeom prst="roundRect">
            <a:avLst/>
          </a:prstGeom>
          <a:solidFill>
            <a:srgbClr val="0277BD"/>
          </a:solidFill>
          <a:ln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ABRIR E3P5 · Evidencias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 Control y cambios</a:t>
            </a:r>
            <a:endParaRPr lang="en-US" sz="2000" dirty="0"/>
          </a:p>
        </p:txBody>
      </p:sp>
      <p:pic>
        <p:nvPicPr>
          <p:cNvPr id="7" name="Image 0" descr="/mnt/data/pptx_extract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1874520" cy="256032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2700">
            <a:solidFill>
              <a:srgbClr val="0277B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6072" y="116128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CAMBIOS AUTORIZADOS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66928" y="160020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9808" y="1709928"/>
            <a:ext cx="310896" cy="3108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49808" y="178308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001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188720" y="169164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PT5 externo → PT4 interno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88720" y="189280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$350 MXN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66928" y="2386584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49808" y="2496312"/>
            <a:ext cx="310896" cy="310896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49808" y="2569464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002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1188720" y="247802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 de luz BH1750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88720" y="267919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Aumenta $85 MXN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66928" y="3172968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49808" y="3282696"/>
            <a:ext cx="310896" cy="310896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49808" y="3355848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003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1188720" y="326440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Válvulas antirretorno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88720" y="346557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Aumenta $160 MXN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566928" y="4370832"/>
            <a:ext cx="17556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58368" y="44439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-$105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58368" y="471830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impacto neto</a:t>
            </a:r>
            <a:endParaRPr lang="en-US" sz="640" dirty="0"/>
          </a:p>
        </p:txBody>
      </p:sp>
      <p:sp>
        <p:nvSpPr>
          <p:cNvPr id="28" name="Shape 25"/>
          <p:cNvSpPr/>
          <p:nvPr/>
        </p:nvSpPr>
        <p:spPr>
          <a:xfrm>
            <a:off x="2432304" y="4370832"/>
            <a:ext cx="17556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523744" y="444398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$6,245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523744" y="471830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costo ajustado</a:t>
            </a:r>
            <a:endParaRPr lang="en-US" sz="640" dirty="0"/>
          </a:p>
        </p:txBody>
      </p:sp>
      <p:sp>
        <p:nvSpPr>
          <p:cNvPr id="31" name="Text 28"/>
          <p:cNvSpPr/>
          <p:nvPr/>
        </p:nvSpPr>
        <p:spPr>
          <a:xfrm>
            <a:off x="685800" y="536752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Ningún cambio modifica la fecha final: 11/12/2026.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" descr="/mnt/data/pptx_extract/ppt/media/image-9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1880" y="1243584"/>
            <a:ext cx="5964040" cy="4608576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>
            <a:hlinkClick r:id="rId5"/>
          </p:cNvPr>
          <p:cNvSpPr/>
          <p:nvPr/>
        </p:nvSpPr>
        <p:spPr>
          <a:xfrm>
            <a:off x="5376672" y="5742432"/>
            <a:ext cx="2606040" cy="28346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txBody>
          <a:bodyPr wrap="square" lIns="64008" tIns="27432" rIns="64008" bIns="27432" rtlCol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</a:rPr>
              <a:t>ABRIR E4P1 · Cambios</a:t>
            </a:r>
            <a:endParaRPr lang="en-US" sz="650" dirty="0"/>
          </a:p>
        </p:txBody>
      </p:sp>
      <p:sp>
        <p:nvSpPr>
          <p:cNvPr id="37" name="Text 33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E4P1 CAMBIOS AUTORIZADOS + E4P2 ESTADO ACTUAL</a:t>
            </a:r>
            <a:endParaRPr lang="en-US" sz="650" dirty="0"/>
          </a:p>
        </p:txBody>
      </p:sp>
      <p:sp>
        <p:nvSpPr>
          <p:cNvPr id="38" name="Text 34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  <p:sp>
        <p:nvSpPr>
          <p:cNvPr id="39" name="Rounded Rectangle 38">
            <a:hlinkClick r:id="rId6"/>
          </p:cNvPr>
          <p:cNvSpPr/>
          <p:nvPr/>
        </p:nvSpPr>
        <p:spPr>
          <a:xfrm>
            <a:off x="8092440" y="5742432"/>
            <a:ext cx="2606040" cy="283464"/>
          </a:xfrm>
          <a:prstGeom prst="roundRect">
            <a:avLst/>
          </a:prstGeom>
          <a:solidFill>
            <a:srgbClr val="0277BD"/>
          </a:solidFill>
          <a:ln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ABRIR E4P2 · Estado actual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9. Estado y verificación</a:t>
            </a:r>
            <a:endParaRPr lang="en-US" sz="2000" dirty="0"/>
          </a:p>
        </p:txBody>
      </p:sp>
      <p:pic>
        <p:nvPicPr>
          <p:cNvPr id="7" name="Image 0" descr="/mnt/data/pptx_extract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1508760" cy="256032"/>
          </a:xfrm>
          <a:prstGeom prst="roundRect">
            <a:avLst>
              <a:gd name="adj" fmla="val 28571"/>
            </a:avLst>
          </a:prstGeom>
          <a:solidFill>
            <a:srgbClr val="E8F5E9"/>
          </a:solidFill>
          <a:ln w="12700">
            <a:solidFill>
              <a:srgbClr val="2E7D3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6072" y="116128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PANEL DE CONTROL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66928" y="1627632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68096" y="173736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TIEMPO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532888" y="18105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estado general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6928" y="2505456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68096" y="26151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$6,245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532888" y="2688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costo ajustado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6928" y="338328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8096" y="34930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$5,730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532888" y="35661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pagado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6928" y="4617720"/>
            <a:ext cx="3840480" cy="786384"/>
          </a:xfrm>
          <a:prstGeom prst="roundRect">
            <a:avLst>
              <a:gd name="adj" fmla="val 11628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49808" y="47274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Verificación final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49808" y="49560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PT1–PT9 verificados; PT5 cerrado por cambio 001 e integrado en PT4.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285232" y="1243584"/>
            <a:ext cx="6117336" cy="2221992"/>
          </a:xfrm>
          <a:prstGeom prst="roundRect">
            <a:avLst>
              <a:gd name="adj" fmla="val 2469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/mnt/data/pptx_extract/ppt/media/image-10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930" y="1316736"/>
            <a:ext cx="1603941" cy="207568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285232" y="3630168"/>
            <a:ext cx="6117336" cy="2221992"/>
          </a:xfrm>
          <a:prstGeom prst="roundRect">
            <a:avLst>
              <a:gd name="adj" fmla="val 2469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/mnt/data/pptx_extract/ppt/media/image-10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930" y="3703320"/>
            <a:ext cx="1603941" cy="2075688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>
            <a:hlinkClick r:id="rId6"/>
          </p:cNvPr>
          <p:cNvSpPr/>
          <p:nvPr/>
        </p:nvSpPr>
        <p:spPr>
          <a:xfrm>
            <a:off x="5376672" y="5742432"/>
            <a:ext cx="2606040" cy="28346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txBody>
          <a:bodyPr wrap="square" lIns="64008" tIns="27432" rIns="64008" bIns="27432" rtlCol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</a:rPr>
              <a:t>ABRIR E4P2 · Estado actual</a:t>
            </a:r>
            <a:endParaRPr lang="en-US" sz="650" dirty="0"/>
          </a:p>
        </p:txBody>
      </p:sp>
      <p:sp>
        <p:nvSpPr>
          <p:cNvPr id="30" name="Text 25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E4P2 REPORTE DE ESTADO + E4P3 VERIFICACIÓN</a:t>
            </a:r>
            <a:endParaRPr lang="en-US" sz="650" dirty="0"/>
          </a:p>
        </p:txBody>
      </p:sp>
      <p:sp>
        <p:nvSpPr>
          <p:cNvPr id="31" name="Text 26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  <p:sp>
        <p:nvSpPr>
          <p:cNvPr id="32" name="Rounded Rectangle 31">
            <a:hlinkClick r:id="rId7"/>
          </p:cNvPr>
          <p:cNvSpPr/>
          <p:nvPr/>
        </p:nvSpPr>
        <p:spPr>
          <a:xfrm>
            <a:off x="8092440" y="5742432"/>
            <a:ext cx="2606040" cy="283464"/>
          </a:xfrm>
          <a:prstGeom prst="roundRect">
            <a:avLst/>
          </a:prstGeom>
          <a:solidFill>
            <a:srgbClr val="0277BD"/>
          </a:solidFill>
          <a:ln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ABRIR E4P3 · Verificación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FINALIZAR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10. Cierre del proyecto</a:t>
            </a:r>
            <a:endParaRPr lang="en-US" sz="2000" dirty="0"/>
          </a:p>
        </p:txBody>
      </p:sp>
      <p:pic>
        <p:nvPicPr>
          <p:cNvPr id="7" name="Image 0" descr="/mnt/data/pptx_extract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E8F5E9"/>
          </a:solidFill>
          <a:ln w="12700">
            <a:solidFill>
              <a:srgbClr val="2E7D3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6072" y="116128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CIERRE ADMINISTRATIVO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66928" y="1719072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164592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Todos los paquetes vigentes y actividades quedan concluidos y verificados.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566928" y="2221992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214884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PT5 se cerró por cambio autorizado 001 y se transfirió a PT4.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566928" y="2724912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265176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Costo real final ejercido: $6,045 MXN.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566928" y="3227832"/>
            <a:ext cx="137160" cy="13716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2960" y="315468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Adeudo final: $0 MXN.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566928" y="3730752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365760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Expediente integrado: reportes, evidencias, costos y aprendizajes.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566928" y="5120640"/>
            <a:ext cx="17556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8368" y="51937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8368" y="546811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adeudos</a:t>
            </a:r>
            <a:endParaRPr lang="en-US" sz="640" dirty="0"/>
          </a:p>
        </p:txBody>
      </p:sp>
      <p:sp>
        <p:nvSpPr>
          <p:cNvPr id="23" name="Shape 20"/>
          <p:cNvSpPr/>
          <p:nvPr/>
        </p:nvSpPr>
        <p:spPr>
          <a:xfrm>
            <a:off x="2432304" y="5120640"/>
            <a:ext cx="17556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523744" y="51937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$200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523744" y="546811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saldo no ejercido</a:t>
            </a:r>
            <a:endParaRPr lang="en-US" sz="640" dirty="0"/>
          </a:p>
        </p:txBody>
      </p:sp>
      <p:sp>
        <p:nvSpPr>
          <p:cNvPr id="26" name="Shape 23">
            <a:hlinkClick r:id="rId5"/>
          </p:cNvPr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" descr="/mnt/data/pptx_extract/ppt/media/image-11-2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314" y="1243584"/>
            <a:ext cx="3561172" cy="4608576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>
            <a:hlinkClick r:id="rId5"/>
          </p:cNvPr>
          <p:cNvSpPr/>
          <p:nvPr/>
        </p:nvSpPr>
        <p:spPr>
          <a:xfrm>
            <a:off x="5376672" y="5742432"/>
            <a:ext cx="3246120" cy="28346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txBody>
          <a:bodyPr wrap="square" lIns="64008" tIns="27432" rIns="64008" bIns="27432" rtlCol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</a:rPr>
              <a:t>ABRIR E5P1 · Reporte final</a:t>
            </a:r>
            <a:endParaRPr lang="en-US" sz="650" dirty="0"/>
          </a:p>
        </p:txBody>
      </p:sp>
      <p:sp>
        <p:nvSpPr>
          <p:cNvPr id="31" name="Text 27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E5P1 REPORTE FINAL</a:t>
            </a:r>
            <a:endParaRPr lang="en-US" sz="650" dirty="0"/>
          </a:p>
        </p:txBody>
      </p:sp>
      <p:sp>
        <p:nvSpPr>
          <p:cNvPr id="32" name="Text 28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39128"/>
            <a:ext cx="12191695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01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FINALIZAR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576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11. Aprendizajes y cierre</a:t>
            </a:r>
            <a:endParaRPr lang="en-US" sz="2000" dirty="0"/>
          </a:p>
        </p:txBody>
      </p:sp>
      <p:pic>
        <p:nvPicPr>
          <p:cNvPr id="7" name="Image 0" descr="/mnt/data/pptx_extract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978" y="228600"/>
            <a:ext cx="301524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12471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2700">
            <a:solidFill>
              <a:srgbClr val="0277B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6072" y="116128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LECCIONES CLAVE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66928" y="1627632"/>
            <a:ext cx="38404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58952" y="1783080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58952" y="179679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88720" y="17190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Validar por etapas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1188720" y="194767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Hidráulica → electrónica → firmware → plataforma.</a:t>
            </a:r>
            <a:endParaRPr lang="en-US" sz="710" dirty="0"/>
          </a:p>
        </p:txBody>
      </p:sp>
      <p:sp>
        <p:nvSpPr>
          <p:cNvPr id="15" name="Shape 12"/>
          <p:cNvSpPr/>
          <p:nvPr/>
        </p:nvSpPr>
        <p:spPr>
          <a:xfrm>
            <a:off x="566928" y="2468880"/>
            <a:ext cx="38404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58952" y="2624328"/>
            <a:ext cx="292608" cy="292608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58952" y="263804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88720" y="256032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local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1188720" y="278892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Riego, protección y dosificación continúan sin Internet.</a:t>
            </a:r>
            <a:endParaRPr lang="en-US" sz="710" dirty="0"/>
          </a:p>
        </p:txBody>
      </p:sp>
      <p:sp>
        <p:nvSpPr>
          <p:cNvPr id="20" name="Shape 17"/>
          <p:cNvSpPr/>
          <p:nvPr/>
        </p:nvSpPr>
        <p:spPr>
          <a:xfrm>
            <a:off x="566928" y="3310128"/>
            <a:ext cx="38404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58952" y="3465576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58952" y="347929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88720" y="340156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Dosificación segura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1188720" y="3630168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Calibrar, mezclar, releer y limitar cada corrección.</a:t>
            </a:r>
            <a:endParaRPr lang="en-US" sz="710" dirty="0"/>
          </a:p>
        </p:txBody>
      </p:sp>
      <p:sp>
        <p:nvSpPr>
          <p:cNvPr id="25" name="Shape 22"/>
          <p:cNvSpPr/>
          <p:nvPr/>
        </p:nvSpPr>
        <p:spPr>
          <a:xfrm>
            <a:off x="566928" y="4151376"/>
            <a:ext cx="38404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CEF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58952" y="4306824"/>
            <a:ext cx="292608" cy="292608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58952" y="43205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88720" y="424281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Trazabilidad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471416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6470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Cambios, costos y evidencias vinculados al expediente.</a:t>
            </a:r>
            <a:endParaRPr lang="en-US" sz="710" dirty="0"/>
          </a:p>
        </p:txBody>
      </p:sp>
      <p:sp>
        <p:nvSpPr>
          <p:cNvPr id="30" name="Shape 27"/>
          <p:cNvSpPr/>
          <p:nvPr/>
        </p:nvSpPr>
        <p:spPr>
          <a:xfrm>
            <a:off x="566928" y="5257800"/>
            <a:ext cx="3840480" cy="566928"/>
          </a:xfrm>
          <a:prstGeom prst="roundRect">
            <a:avLst>
              <a:gd name="adj" fmla="val 14516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49808" y="541324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5D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Junta de cierre: 11 de diciembre de 2026 · aceptación administrativa del proyecto.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5029200" y="987552"/>
            <a:ext cx="662940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12700">
            <a:solidFill>
              <a:srgbClr val="DCE5EA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029200" y="987552"/>
            <a:ext cx="73152" cy="53218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285232" y="1243584"/>
            <a:ext cx="6117336" cy="2221992"/>
          </a:xfrm>
          <a:prstGeom prst="roundRect">
            <a:avLst>
              <a:gd name="adj" fmla="val 2469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1" descr="/mnt/data/pptx_extract/ppt/media/image-12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930" y="1316736"/>
            <a:ext cx="1603941" cy="2075688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5285232" y="3630168"/>
            <a:ext cx="6117336" cy="2221992"/>
          </a:xfrm>
          <a:prstGeom prst="roundRect">
            <a:avLst>
              <a:gd name="adj" fmla="val 2469"/>
            </a:avLst>
          </a:prstGeom>
          <a:solidFill>
            <a:srgbClr val="FDFEFE"/>
          </a:solidFill>
          <a:ln w="10160">
            <a:solidFill>
              <a:srgbClr val="E4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2" descr="/mnt/data/pptx_extract/ppt/media/image-12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930" y="3703320"/>
            <a:ext cx="1603941" cy="2075688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5285232" y="5961888"/>
            <a:ext cx="6117336" cy="219456"/>
          </a:xfrm>
          <a:prstGeom prst="roundRect">
            <a:avLst>
              <a:gd name="adj" fmla="val 208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>
            <a:hlinkClick r:id="rId6"/>
          </p:cNvPr>
          <p:cNvSpPr/>
          <p:nvPr/>
        </p:nvSpPr>
        <p:spPr>
          <a:xfrm>
            <a:off x="5376672" y="5742432"/>
            <a:ext cx="2606040" cy="28346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txBody>
          <a:bodyPr wrap="square" lIns="64008" tIns="27432" rIns="64008" bIns="27432" rtlCol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rial"/>
              </a:rPr>
              <a:t>ABRIR E5P1 · Reporte final</a:t>
            </a:r>
            <a:endParaRPr lang="en-US" sz="650" dirty="0"/>
          </a:p>
        </p:txBody>
      </p:sp>
      <p:sp>
        <p:nvSpPr>
          <p:cNvPr id="40" name="Text 35"/>
          <p:cNvSpPr/>
          <p:nvPr/>
        </p:nvSpPr>
        <p:spPr>
          <a:xfrm>
            <a:off x="502920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C49A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EVIDENCIA: APRENDIZAJES + JUNTA DE CIERRE + ACEPTACIÓN</a:t>
            </a:r>
            <a:endParaRPr lang="en-US" sz="650" dirty="0"/>
          </a:p>
        </p:txBody>
      </p:sp>
      <p:sp>
        <p:nvSpPr>
          <p:cNvPr id="41" name="Text 36"/>
          <p:cNvSpPr/>
          <p:nvPr/>
        </p:nvSpPr>
        <p:spPr>
          <a:xfrm>
            <a:off x="937260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60" dirty="0">
                <a:solidFill>
                  <a:srgbClr val="B6BF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EC0935 · Gestión de trabajo por proyectos</a:t>
            </a:r>
            <a:endParaRPr lang="en-US" sz="560" dirty="0"/>
          </a:p>
        </p:txBody>
      </p:sp>
      <p:sp>
        <p:nvSpPr>
          <p:cNvPr id="42" name="Rounded Rectangle 41">
            <a:hlinkClick r:id="rId7"/>
          </p:cNvPr>
          <p:cNvSpPr/>
          <p:nvPr/>
        </p:nvSpPr>
        <p:spPr>
          <a:xfrm>
            <a:off x="8092440" y="5742432"/>
            <a:ext cx="2606040" cy="283464"/>
          </a:xfrm>
          <a:prstGeom prst="roundRect">
            <a:avLst/>
          </a:prstGeom>
          <a:solidFill>
            <a:srgbClr val="0277BD"/>
          </a:solidFill>
          <a:ln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ABRIR E5P2 · Junta cierre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966</Words>
  <Application>Microsoft Office PowerPoint</Application>
  <PresentationFormat>Widescreen</PresentationFormat>
  <Paragraphs>219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Montserrat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UABC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HydroMate: Torre Hidropónica Inteligente Automatizada</dc:title>
  <dc:subject>HydroMate EC0935 Presentación Ejecutiva</dc:subject>
  <dc:creator>OpenAI</dc:creator>
  <cp:lastModifiedBy>DANNA BENIGBE CRUZ OSORIO</cp:lastModifiedBy>
  <cp:revision>2</cp:revision>
  <dcterms:created xsi:type="dcterms:W3CDTF">2026-09-25T07:19:58Z</dcterms:created>
  <dcterms:modified xsi:type="dcterms:W3CDTF">2026-09-25T07:31:57Z</dcterms:modified>
</cp:coreProperties>
</file>