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548640"/>
            <a:ext cx="3611880" cy="576072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2700">
            <a:solidFill>
              <a:srgbClr val="E4ECEF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09560" y="548640"/>
            <a:ext cx="91440" cy="576072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pic>
        <p:nvPicPr>
          <p:cNvPr id="7" name="Image 0" descr="/mnt/data/hydromate_tower_cut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0092" y="731520"/>
            <a:ext cx="2236536" cy="5349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7240" y="777240"/>
            <a:ext cx="594360" cy="5943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44752" y="768096"/>
            <a:ext cx="594360" cy="59436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40280" y="804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5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HydroMate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77240" y="15727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EC0935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2029968"/>
            <a:ext cx="6766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5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HydroMate: Torre Hidropónica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B5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Inteligente Automatizada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777240" y="3355848"/>
            <a:ext cx="5349240" cy="0"/>
          </a:xfrm>
          <a:prstGeom prst="line">
            <a:avLst/>
          </a:prstGeom>
          <a:noFill/>
          <a:ln w="27940">
            <a:solidFill>
              <a:srgbClr val="0277B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361188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Presentación Ejecutiva - Proyecto EC0935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77240" y="4681728"/>
            <a:ext cx="438912" cy="43891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476402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52303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INICIAR</a:t>
            </a:r>
            <a:endParaRPr lang="en-US" sz="680" dirty="0"/>
          </a:p>
        </p:txBody>
      </p:sp>
      <p:sp>
        <p:nvSpPr>
          <p:cNvPr id="18" name="Shape 15"/>
          <p:cNvSpPr/>
          <p:nvPr/>
        </p:nvSpPr>
        <p:spPr>
          <a:xfrm>
            <a:off x="1261872" y="4901184"/>
            <a:ext cx="932688" cy="0"/>
          </a:xfrm>
          <a:prstGeom prst="line">
            <a:avLst/>
          </a:prstGeom>
          <a:noFill/>
          <a:ln w="15240">
            <a:solidFill>
              <a:srgbClr val="2E7D3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240280" y="4681728"/>
            <a:ext cx="438912" cy="43891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240280" y="476402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920240" y="52303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ORGANIZAR</a:t>
            </a:r>
            <a:endParaRPr lang="en-US" sz="680" dirty="0"/>
          </a:p>
        </p:txBody>
      </p:sp>
      <p:sp>
        <p:nvSpPr>
          <p:cNvPr id="22" name="Shape 19"/>
          <p:cNvSpPr/>
          <p:nvPr/>
        </p:nvSpPr>
        <p:spPr>
          <a:xfrm>
            <a:off x="2724912" y="4901184"/>
            <a:ext cx="932688" cy="0"/>
          </a:xfrm>
          <a:prstGeom prst="line">
            <a:avLst/>
          </a:prstGeom>
          <a:noFill/>
          <a:ln w="15240">
            <a:solidFill>
              <a:srgbClr val="2E7D3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703320" y="4681728"/>
            <a:ext cx="438912" cy="438912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03320" y="476402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383280" y="52303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IMPLEMENTAR</a:t>
            </a:r>
            <a:endParaRPr lang="en-US" sz="680" dirty="0"/>
          </a:p>
        </p:txBody>
      </p:sp>
      <p:sp>
        <p:nvSpPr>
          <p:cNvPr id="26" name="Shape 23"/>
          <p:cNvSpPr/>
          <p:nvPr/>
        </p:nvSpPr>
        <p:spPr>
          <a:xfrm>
            <a:off x="4187952" y="4901184"/>
            <a:ext cx="932688" cy="0"/>
          </a:xfrm>
          <a:prstGeom prst="line">
            <a:avLst/>
          </a:prstGeom>
          <a:noFill/>
          <a:ln w="15240">
            <a:solidFill>
              <a:srgbClr val="0277B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166360" y="4681728"/>
            <a:ext cx="438912" cy="438912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66360" y="476402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846320" y="52303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VERIFICAR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5650992" y="4901184"/>
            <a:ext cx="932688" cy="0"/>
          </a:xfrm>
          <a:prstGeom prst="line">
            <a:avLst/>
          </a:prstGeom>
          <a:noFill/>
          <a:ln w="15240">
            <a:solidFill>
              <a:srgbClr val="0277B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629400" y="4681728"/>
            <a:ext cx="438912" cy="438912"/>
          </a:xfrm>
          <a:prstGeom prst="ellipse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629400" y="476402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309360" y="52303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FINALIZAR</a:t>
            </a:r>
            <a:endParaRPr lang="en-US" sz="680" dirty="0"/>
          </a:p>
        </p:txBody>
      </p:sp>
      <p:sp>
        <p:nvSpPr>
          <p:cNvPr id="34" name="Text 31"/>
          <p:cNvSpPr/>
          <p:nvPr/>
        </p:nvSpPr>
        <p:spPr>
          <a:xfrm>
            <a:off x="777240" y="63276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Líder de Proyecto: Kevin Osmar Valdez Meza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77240" y="598932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B5D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INICIAR → ORGANIZAR → IMPLEMENTAR → VERIFICAR → FINALIZAR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39128"/>
            <a:ext cx="12191695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01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INICIAR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760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5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Proyecto y objetivo</a:t>
            </a:r>
            <a:endParaRPr lang="en-US" sz="2000" dirty="0"/>
          </a:p>
        </p:txBody>
      </p:sp>
      <p:pic>
        <p:nvPicPr>
          <p:cNvPr id="7" name="Image 0" descr="/mnt/data/pptx_extract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4978" y="228600"/>
            <a:ext cx="301524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12471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2700">
            <a:solidFill>
              <a:srgbClr val="0277BD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1161288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OBJETIVO SMART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02920" y="1554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HydroMate automatiza una torre hidropónica vertical con control local e historial de datos.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2359152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286000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 ESP32 con control local.</a:t>
            </a:r>
            <a:endParaRPr lang="en-US" sz="1070" dirty="0"/>
          </a:p>
        </p:txBody>
      </p:sp>
      <p:sp>
        <p:nvSpPr>
          <p:cNvPr id="13" name="Shape 10"/>
          <p:cNvSpPr/>
          <p:nvPr/>
        </p:nvSpPr>
        <p:spPr>
          <a:xfrm>
            <a:off x="566928" y="2788920"/>
            <a:ext cx="137160" cy="13716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2715768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Monitoreo: nivel, temperatura, pH, TDS/EC y luz.</a:t>
            </a:r>
            <a:endParaRPr lang="en-US" sz="1070" dirty="0"/>
          </a:p>
        </p:txBody>
      </p:sp>
      <p:sp>
        <p:nvSpPr>
          <p:cNvPr id="15" name="Shape 12"/>
          <p:cNvSpPr/>
          <p:nvPr/>
        </p:nvSpPr>
        <p:spPr>
          <a:xfrm>
            <a:off x="566928" y="3218688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3145536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Capacidad objetivo: hasta 8 plantas.</a:t>
            </a:r>
            <a:endParaRPr lang="en-US" sz="1070" dirty="0"/>
          </a:p>
        </p:txBody>
      </p:sp>
      <p:sp>
        <p:nvSpPr>
          <p:cNvPr id="17" name="Shape 14"/>
          <p:cNvSpPr/>
          <p:nvPr/>
        </p:nvSpPr>
        <p:spPr>
          <a:xfrm>
            <a:off x="566928" y="3648456"/>
            <a:ext cx="137160" cy="13716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575304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Presupuesto autorizado: $6,350 MXN.</a:t>
            </a:r>
            <a:endParaRPr lang="en-US" sz="1070" dirty="0"/>
          </a:p>
        </p:txBody>
      </p:sp>
      <p:sp>
        <p:nvSpPr>
          <p:cNvPr id="19" name="Shape 16"/>
          <p:cNvSpPr/>
          <p:nvPr/>
        </p:nvSpPr>
        <p:spPr>
          <a:xfrm>
            <a:off x="566928" y="4078224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4005072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Cierre estimado: 11 de diciembre de 2026.</a:t>
            </a:r>
            <a:endParaRPr lang="en-US" sz="1070" dirty="0"/>
          </a:p>
        </p:txBody>
      </p:sp>
      <p:sp>
        <p:nvSpPr>
          <p:cNvPr id="21" name="Shape 18"/>
          <p:cNvSpPr/>
          <p:nvPr/>
        </p:nvSpPr>
        <p:spPr>
          <a:xfrm>
            <a:off x="566928" y="4507992"/>
            <a:ext cx="137160" cy="13716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" y="4434840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Producto: prototipo funcional con backend e interfaz.</a:t>
            </a:r>
            <a:endParaRPr lang="en-US" sz="1070" dirty="0"/>
          </a:p>
        </p:txBody>
      </p:sp>
      <p:sp>
        <p:nvSpPr>
          <p:cNvPr id="23" name="Shape 20"/>
          <p:cNvSpPr/>
          <p:nvPr/>
        </p:nvSpPr>
        <p:spPr>
          <a:xfrm>
            <a:off x="502920" y="5349240"/>
            <a:ext cx="114604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94360" y="5422392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ESP32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94360" y="5696712"/>
            <a:ext cx="963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controlador</a:t>
            </a:r>
            <a:endParaRPr lang="en-US" sz="640" dirty="0"/>
          </a:p>
        </p:txBody>
      </p:sp>
      <p:sp>
        <p:nvSpPr>
          <p:cNvPr id="26" name="Shape 23"/>
          <p:cNvSpPr/>
          <p:nvPr/>
        </p:nvSpPr>
        <p:spPr>
          <a:xfrm>
            <a:off x="1758696" y="5349240"/>
            <a:ext cx="114604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1850136" y="5422392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850136" y="5696712"/>
            <a:ext cx="963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plantas</a:t>
            </a:r>
            <a:endParaRPr lang="en-US" sz="640" dirty="0"/>
          </a:p>
        </p:txBody>
      </p:sp>
      <p:sp>
        <p:nvSpPr>
          <p:cNvPr id="29" name="Shape 26"/>
          <p:cNvSpPr/>
          <p:nvPr/>
        </p:nvSpPr>
        <p:spPr>
          <a:xfrm>
            <a:off x="3014472" y="5349240"/>
            <a:ext cx="114604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3105912" y="5422392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$6,350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3105912" y="5696712"/>
            <a:ext cx="963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MXN</a:t>
            </a:r>
            <a:endParaRPr lang="en-US" sz="640" dirty="0"/>
          </a:p>
        </p:txBody>
      </p:sp>
      <p:sp>
        <p:nvSpPr>
          <p:cNvPr id="32" name="Shape 29"/>
          <p:cNvSpPr/>
          <p:nvPr/>
        </p:nvSpPr>
        <p:spPr>
          <a:xfrm>
            <a:off x="5029200" y="987552"/>
            <a:ext cx="662940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3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029200" y="987552"/>
            <a:ext cx="73152" cy="53218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pic>
        <p:nvPicPr>
          <p:cNvPr id="34" name="Image 1" descr="/mnt/data/pptx_extract/ppt/media/image-2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314" y="1243584"/>
            <a:ext cx="3561172" cy="4608576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5285232" y="5961888"/>
            <a:ext cx="6117336" cy="219456"/>
          </a:xfrm>
          <a:prstGeom prst="roundRect">
            <a:avLst>
              <a:gd name="adj" fmla="val 20833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376672" y="5998464"/>
            <a:ext cx="5934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5D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E1P1 · Plan Básico</a:t>
            </a:r>
            <a:endParaRPr lang="en-US" sz="650" dirty="0"/>
          </a:p>
        </p:txBody>
      </p:sp>
      <p:sp>
        <p:nvSpPr>
          <p:cNvPr id="37" name="Text 33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E1P1 · PLAN BÁSICO</a:t>
            </a:r>
            <a:endParaRPr lang="en-US" sz="650" dirty="0"/>
          </a:p>
        </p:txBody>
      </p:sp>
      <p:sp>
        <p:nvSpPr>
          <p:cNvPr id="38" name="Text 34"/>
          <p:cNvSpPr/>
          <p:nvPr/>
        </p:nvSpPr>
        <p:spPr>
          <a:xfrm>
            <a:off x="937260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60" dirty="0">
                <a:solidFill>
                  <a:srgbClr val="B6BF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EC0935 · Gestión de trabajo por proyectos</a:t>
            </a:r>
            <a:endParaRPr lang="en-US" sz="5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39128"/>
            <a:ext cx="12191695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01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INICIAR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760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5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Alcance y limitantes</a:t>
            </a:r>
            <a:endParaRPr lang="en-US" sz="2000" dirty="0"/>
          </a:p>
        </p:txBody>
      </p:sp>
      <p:pic>
        <p:nvPicPr>
          <p:cNvPr id="7" name="Image 0" descr="/mnt/data/pptx_extract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4978" y="228600"/>
            <a:ext cx="301524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12471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E8F5E9"/>
          </a:solidFill>
          <a:ln w="12700">
            <a:solidFill>
              <a:srgbClr val="2E7D32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1161288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ALCANCE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66928" y="1645920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1572768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Planeación, torre física, electrónica, firmware, plataforma y pruebas.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6928" y="2212848"/>
            <a:ext cx="137160" cy="13716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2139696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Expectativas: prototipo integrado y documentado con evidencias.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" y="2779776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706624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Supuestos: componentes disponibles, Wi‑Fi 2.4 GHz y herramientas de trabajo.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749040"/>
            <a:ext cx="1554480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13232" y="3822192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1261872" y="391363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semanas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académicas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331720" y="3749040"/>
            <a:ext cx="1874520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2450592" y="382219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torre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3246120" y="3913632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prototipo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académico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66928" y="504748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Limitantes clave: no se valida operación industrial ni certificación comercial; la medición se realiza con sensores accesibles.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029200" y="987552"/>
            <a:ext cx="662940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3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029200" y="987552"/>
            <a:ext cx="73152" cy="53218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pic>
        <p:nvPicPr>
          <p:cNvPr id="25" name="Image 1" descr="/mnt/data/pptx_extract/ppt/media/image-3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314" y="1243584"/>
            <a:ext cx="3561172" cy="4608576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5285232" y="5961888"/>
            <a:ext cx="6117336" cy="219456"/>
          </a:xfrm>
          <a:prstGeom prst="roundRect">
            <a:avLst>
              <a:gd name="adj" fmla="val 20833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376672" y="5998464"/>
            <a:ext cx="5934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5D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E1P1 · Supuestos, limitantes y fechas</a:t>
            </a:r>
            <a:endParaRPr lang="en-US" sz="650" dirty="0"/>
          </a:p>
        </p:txBody>
      </p:sp>
      <p:sp>
        <p:nvSpPr>
          <p:cNvPr id="28" name="Text 24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E1P1 · PLAN BÁSICO + ANTECEDENTES</a:t>
            </a:r>
            <a:endParaRPr lang="en-US" sz="650" dirty="0"/>
          </a:p>
        </p:txBody>
      </p:sp>
      <p:sp>
        <p:nvSpPr>
          <p:cNvPr id="29" name="Text 25"/>
          <p:cNvSpPr/>
          <p:nvPr/>
        </p:nvSpPr>
        <p:spPr>
          <a:xfrm>
            <a:off x="937260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60" dirty="0">
                <a:solidFill>
                  <a:srgbClr val="B6BF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EC0935 · Gestión de trabajo por proyectos</a:t>
            </a:r>
            <a:endParaRPr lang="en-US" sz="5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39128"/>
            <a:ext cx="12191695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01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INICIAR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760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5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Inicio formal</a:t>
            </a:r>
            <a:endParaRPr lang="en-US" sz="2000" dirty="0"/>
          </a:p>
        </p:txBody>
      </p:sp>
      <p:pic>
        <p:nvPicPr>
          <p:cNvPr id="7" name="Image 0" descr="/mnt/data/pptx_extract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4978" y="228600"/>
            <a:ext cx="301524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216152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9808" y="13624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5D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 septiembre 2026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834640" y="14081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junta de inicio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6928" y="2496312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formaliza alcance, roles y presupuesto del proyecto.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66928" y="2935224"/>
            <a:ext cx="137160" cy="13716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2862072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Participan Kevin, Mariana y Diego.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66928" y="3374136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3300984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Presupuesto base aprobado: $6,350 MXN.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66928" y="3813048"/>
            <a:ext cx="137160" cy="13716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739896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Siguiente reunión: 25 septiembre 2026.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66928" y="4572000"/>
            <a:ext cx="3840480" cy="786384"/>
          </a:xfrm>
          <a:prstGeom prst="roundRect">
            <a:avLst>
              <a:gd name="adj" fmla="val 11628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" y="468172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ACUERDO CRÍTICO</a:t>
            </a:r>
            <a:endParaRPr lang="en-US" sz="740" dirty="0"/>
          </a:p>
        </p:txBody>
      </p:sp>
      <p:sp>
        <p:nvSpPr>
          <p:cNvPr id="21" name="Text 18"/>
          <p:cNvSpPr/>
          <p:nvPr/>
        </p:nvSpPr>
        <p:spPr>
          <a:xfrm>
            <a:off x="749808" y="4882896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ESP32 debe mantener riego, protección, iluminación y dosificación aunque falle Internet.</a:t>
            </a:r>
            <a:endParaRPr lang="en-US" sz="930" dirty="0"/>
          </a:p>
        </p:txBody>
      </p:sp>
      <p:sp>
        <p:nvSpPr>
          <p:cNvPr id="22" name="Shape 19"/>
          <p:cNvSpPr/>
          <p:nvPr/>
        </p:nvSpPr>
        <p:spPr>
          <a:xfrm>
            <a:off x="5029200" y="987552"/>
            <a:ext cx="662940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3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029200" y="987552"/>
            <a:ext cx="73152" cy="53218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pic>
        <p:nvPicPr>
          <p:cNvPr id="24" name="Image 1" descr="/mnt/data/pptx_extract/ppt/media/image-4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314" y="1243584"/>
            <a:ext cx="3561172" cy="4608576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285232" y="5961888"/>
            <a:ext cx="6117336" cy="219456"/>
          </a:xfrm>
          <a:prstGeom prst="roundRect">
            <a:avLst>
              <a:gd name="adj" fmla="val 20833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376672" y="5998464"/>
            <a:ext cx="5934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5D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E1P2 · Reporte de Junta de Inicio</a:t>
            </a:r>
            <a:endParaRPr lang="en-US" sz="650" dirty="0"/>
          </a:p>
        </p:txBody>
      </p:sp>
      <p:sp>
        <p:nvSpPr>
          <p:cNvPr id="27" name="Text 23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E1P2 · REPORTE DE JUNTA DE INICIO</a:t>
            </a:r>
            <a:endParaRPr lang="en-US" sz="650" dirty="0"/>
          </a:p>
        </p:txBody>
      </p:sp>
      <p:sp>
        <p:nvSpPr>
          <p:cNvPr id="28" name="Text 24"/>
          <p:cNvSpPr/>
          <p:nvPr/>
        </p:nvSpPr>
        <p:spPr>
          <a:xfrm>
            <a:off x="937260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60" dirty="0">
                <a:solidFill>
                  <a:srgbClr val="B6BF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EC0935 · Gestión de trabajo por proyectos</a:t>
            </a:r>
            <a:endParaRPr lang="en-US" sz="5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39128"/>
            <a:ext cx="12191695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01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760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5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Plan detallado y riesgos</a:t>
            </a:r>
            <a:endParaRPr lang="en-US" sz="2000" dirty="0"/>
          </a:p>
        </p:txBody>
      </p:sp>
      <p:pic>
        <p:nvPicPr>
          <p:cNvPr id="7" name="Image 0" descr="/mnt/data/pptx_extract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4978" y="228600"/>
            <a:ext cx="301524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124712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E8F5E9"/>
          </a:solidFill>
          <a:ln w="12700">
            <a:solidFill>
              <a:srgbClr val="2E7D32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116128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 PAQUETES DE TRABAJO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66928" y="1572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PT1 Planeación y arquitectura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66928" y="19202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PT2 Torre y circuito hidráulico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66928" y="226771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PT3 Fabricación 3D y mecanizado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66928" y="261518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PT4 Electrónica, sensores y potencia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66928" y="296265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PT5 PCB/arnés de potencia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578608" y="1572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PT6 Firmware y control local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578608" y="19202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PT7 Backend, BD e interfaz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2578608" y="226771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PT8 Dosificación e iluminación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2578608" y="261518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PT9 Integración y cierre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566928" y="3566160"/>
            <a:ext cx="384048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49808" y="37033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5D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Riesgos priorizados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49808" y="4114800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5840" y="4041648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Fugas u obstrucciones hidráulicas.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749808" y="4480560"/>
            <a:ext cx="137160" cy="13716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05840" y="4407408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Lecturas inestables pH/TDS.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749808" y="4846320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5840" y="4773168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Sobredosificación o pérdida de conexión.</a:t>
            </a:r>
            <a:endParaRPr lang="en-US" sz="780" dirty="0"/>
          </a:p>
        </p:txBody>
      </p:sp>
      <p:sp>
        <p:nvSpPr>
          <p:cNvPr id="27" name="Shape 24"/>
          <p:cNvSpPr/>
          <p:nvPr/>
        </p:nvSpPr>
        <p:spPr>
          <a:xfrm>
            <a:off x="566928" y="5440680"/>
            <a:ext cx="117652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58368" y="5513832"/>
            <a:ext cx="993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58368" y="5788152"/>
            <a:ext cx="993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semanas</a:t>
            </a:r>
            <a:endParaRPr lang="en-US" sz="640" dirty="0"/>
          </a:p>
        </p:txBody>
      </p:sp>
      <p:sp>
        <p:nvSpPr>
          <p:cNvPr id="30" name="Shape 27"/>
          <p:cNvSpPr/>
          <p:nvPr/>
        </p:nvSpPr>
        <p:spPr>
          <a:xfrm>
            <a:off x="1853184" y="5440680"/>
            <a:ext cx="117652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1944624" y="5513832"/>
            <a:ext cx="993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$6,350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944624" y="5788152"/>
            <a:ext cx="993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presupuesto</a:t>
            </a:r>
            <a:endParaRPr lang="en-US" sz="640" dirty="0"/>
          </a:p>
        </p:txBody>
      </p:sp>
      <p:sp>
        <p:nvSpPr>
          <p:cNvPr id="33" name="Shape 30"/>
          <p:cNvSpPr/>
          <p:nvPr/>
        </p:nvSpPr>
        <p:spPr>
          <a:xfrm>
            <a:off x="3139440" y="5440680"/>
            <a:ext cx="117652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3230880" y="5513832"/>
            <a:ext cx="993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3230880" y="5788152"/>
            <a:ext cx="993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riesgos</a:t>
            </a:r>
            <a:endParaRPr lang="en-US" sz="640" dirty="0"/>
          </a:p>
        </p:txBody>
      </p:sp>
      <p:sp>
        <p:nvSpPr>
          <p:cNvPr id="36" name="Shape 33"/>
          <p:cNvSpPr/>
          <p:nvPr/>
        </p:nvSpPr>
        <p:spPr>
          <a:xfrm>
            <a:off x="5029200" y="987552"/>
            <a:ext cx="662940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3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029200" y="987552"/>
            <a:ext cx="73152" cy="53218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pic>
        <p:nvPicPr>
          <p:cNvPr id="38" name="Image 1" descr="/mnt/data/pptx_extract/ppt/media/image-5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314" y="1243584"/>
            <a:ext cx="3561172" cy="4608576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5285232" y="5961888"/>
            <a:ext cx="6117336" cy="219456"/>
          </a:xfrm>
          <a:prstGeom prst="roundRect">
            <a:avLst>
              <a:gd name="adj" fmla="val 20833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376672" y="5998464"/>
            <a:ext cx="5934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5D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E2P1 · Plan Detallado</a:t>
            </a:r>
            <a:endParaRPr lang="en-US" sz="650" dirty="0"/>
          </a:p>
        </p:txBody>
      </p:sp>
      <p:sp>
        <p:nvSpPr>
          <p:cNvPr id="41" name="Text 37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E2P1 · PLAN DETALLADO</a:t>
            </a:r>
            <a:endParaRPr lang="en-US" sz="650" dirty="0"/>
          </a:p>
        </p:txBody>
      </p:sp>
      <p:sp>
        <p:nvSpPr>
          <p:cNvPr id="42" name="Text 38"/>
          <p:cNvSpPr/>
          <p:nvPr/>
        </p:nvSpPr>
        <p:spPr>
          <a:xfrm>
            <a:off x="937260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60" dirty="0">
                <a:solidFill>
                  <a:srgbClr val="B6BF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EC0935 · Gestión de trabajo por proyectos</a:t>
            </a:r>
            <a:endParaRPr lang="en-US" sz="5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39128"/>
            <a:ext cx="12191695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01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760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5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 Organización del equipo</a:t>
            </a:r>
            <a:endParaRPr lang="en-US" sz="2000" dirty="0"/>
          </a:p>
        </p:txBody>
      </p:sp>
      <p:pic>
        <p:nvPicPr>
          <p:cNvPr id="7" name="Image 0" descr="/mnt/data/pptx_extract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4978" y="228600"/>
            <a:ext cx="301524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11704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Roles y responsabilidades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1828800"/>
            <a:ext cx="34747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1984248"/>
            <a:ext cx="438912" cy="43891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05740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44752" y="19568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Kevin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444752" y="222199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Dueño, líder e integración general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731520" y="3154680"/>
            <a:ext cx="34747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68680" y="3310128"/>
            <a:ext cx="438912" cy="438912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3832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444752" y="32826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Mariana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444752" y="354787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Criterios hidropónicos y perfiles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731520" y="4480560"/>
            <a:ext cx="34747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68680" y="4636008"/>
            <a:ext cx="438912" cy="438912"/>
          </a:xfrm>
          <a:prstGeom prst="ellipse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8680" y="470916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444752" y="46085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Diego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444752" y="487375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Revisión electrónica y seguridad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50976" y="2578608"/>
            <a:ext cx="0" cy="484632"/>
          </a:xfrm>
          <a:prstGeom prst="line">
            <a:avLst/>
          </a:prstGeom>
          <a:noFill/>
          <a:ln w="15240">
            <a:solidFill>
              <a:srgbClr val="DCE5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50976" y="3904488"/>
            <a:ext cx="0" cy="484632"/>
          </a:xfrm>
          <a:prstGeom prst="line">
            <a:avLst/>
          </a:prstGeom>
          <a:noFill/>
          <a:ln w="15240">
            <a:solidFill>
              <a:srgbClr val="DCE5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66928" y="5577840"/>
            <a:ext cx="3767328" cy="475488"/>
          </a:xfrm>
          <a:prstGeom prst="roundRect">
            <a:avLst>
              <a:gd name="adj" fmla="val 15385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9808" y="5696712"/>
            <a:ext cx="3364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0B5D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Autorización: implementación aprobada a partir del 28/09/2026.</a:t>
            </a:r>
            <a:endParaRPr lang="en-US" sz="840" dirty="0"/>
          </a:p>
        </p:txBody>
      </p:sp>
      <p:sp>
        <p:nvSpPr>
          <p:cNvPr id="28" name="Shape 25"/>
          <p:cNvSpPr/>
          <p:nvPr/>
        </p:nvSpPr>
        <p:spPr>
          <a:xfrm>
            <a:off x="5029200" y="987552"/>
            <a:ext cx="662940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3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029200" y="987552"/>
            <a:ext cx="73152" cy="53218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285232" y="1243584"/>
            <a:ext cx="6117336" cy="2221992"/>
          </a:xfrm>
          <a:prstGeom prst="roundRect">
            <a:avLst>
              <a:gd name="adj" fmla="val 2469"/>
            </a:avLst>
          </a:prstGeom>
          <a:solidFill>
            <a:srgbClr val="FDFEFE"/>
          </a:solidFill>
          <a:ln w="10160">
            <a:solidFill>
              <a:srgbClr val="E4ECF0"/>
            </a:solidFill>
            <a:prstDash val="solid"/>
          </a:ln>
        </p:spPr>
      </p:sp>
      <p:pic>
        <p:nvPicPr>
          <p:cNvPr id="31" name="Image 1" descr="/mnt/data/pptx_extract/ppt/media/image-6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930" y="1316736"/>
            <a:ext cx="1603941" cy="2075688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5285232" y="3630168"/>
            <a:ext cx="6117336" cy="2221992"/>
          </a:xfrm>
          <a:prstGeom prst="roundRect">
            <a:avLst>
              <a:gd name="adj" fmla="val 2469"/>
            </a:avLst>
          </a:prstGeom>
          <a:solidFill>
            <a:srgbClr val="FDFEFE"/>
          </a:solidFill>
          <a:ln w="10160">
            <a:solidFill>
              <a:srgbClr val="E4ECF0"/>
            </a:solidFill>
            <a:prstDash val="solid"/>
          </a:ln>
        </p:spPr>
      </p:sp>
      <p:pic>
        <p:nvPicPr>
          <p:cNvPr id="33" name="Image 2" descr="/mnt/data/pptx_extract/ppt/media/image-6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930" y="3703320"/>
            <a:ext cx="1603941" cy="2075688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5285232" y="5961888"/>
            <a:ext cx="6117336" cy="219456"/>
          </a:xfrm>
          <a:prstGeom prst="roundRect">
            <a:avLst>
              <a:gd name="adj" fmla="val 20833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376672" y="5998464"/>
            <a:ext cx="5934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5D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E2P2 · Junta de presentación</a:t>
            </a:r>
            <a:endParaRPr lang="en-US" sz="650" dirty="0"/>
          </a:p>
        </p:txBody>
      </p:sp>
      <p:sp>
        <p:nvSpPr>
          <p:cNvPr id="36" name="Text 31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E2P1 + E2P2 · ORGANIZACIÓN Y AUTORIZACIÓN</a:t>
            </a:r>
            <a:endParaRPr lang="en-US" sz="650" dirty="0"/>
          </a:p>
        </p:txBody>
      </p:sp>
      <p:sp>
        <p:nvSpPr>
          <p:cNvPr id="37" name="Text 32"/>
          <p:cNvSpPr/>
          <p:nvPr/>
        </p:nvSpPr>
        <p:spPr>
          <a:xfrm>
            <a:off x="937260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60" dirty="0">
                <a:solidFill>
                  <a:srgbClr val="B6BF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EC0935 · Gestión de trabajo por proyectos</a:t>
            </a:r>
            <a:endParaRPr lang="en-US" sz="5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39128"/>
            <a:ext cx="12191695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01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760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5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6. Proveedores externos</a:t>
            </a:r>
            <a:endParaRPr lang="en-US" sz="2000" dirty="0"/>
          </a:p>
        </p:txBody>
      </p:sp>
      <p:pic>
        <p:nvPicPr>
          <p:cNvPr id="7" name="Image 0" descr="/mnt/data/pptx_extract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4978" y="228600"/>
            <a:ext cx="301524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124712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2700">
            <a:solidFill>
              <a:srgbClr val="0277BD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11612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TRABAJO CONTRATADO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66928" y="1627632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" y="1627632"/>
            <a:ext cx="91440" cy="10515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179222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Baja Maker 3D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04672" y="211226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PT3 · impresión y mecanizado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3310128" y="1901952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$700 MXN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66928" y="3044952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3044952"/>
            <a:ext cx="91440" cy="105156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4672" y="320954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Ensamble PCB Tijuana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4672" y="352958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PT5 · PCB y arnés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3310128" y="3319272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$650 MXN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66928" y="4873752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480060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califican proveedores por experiencia, costo y tiempos.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566928" y="5184648"/>
            <a:ext cx="137160" cy="13716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5111496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descripción de trabajo fija entregables y límites.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566928" y="5495544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5422392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evidencias de avance se integran por paquete.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5029200" y="987552"/>
            <a:ext cx="662940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3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029200" y="987552"/>
            <a:ext cx="73152" cy="53218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285232" y="1243584"/>
            <a:ext cx="6117336" cy="1463040"/>
          </a:xfrm>
          <a:prstGeom prst="roundRect">
            <a:avLst>
              <a:gd name="adj" fmla="val 3125"/>
            </a:avLst>
          </a:prstGeom>
          <a:solidFill>
            <a:srgbClr val="FDFEFE"/>
          </a:solidFill>
          <a:ln w="10160">
            <a:solidFill>
              <a:srgbClr val="E4ECF0"/>
            </a:solidFill>
            <a:prstDash val="solid"/>
          </a:ln>
        </p:spPr>
      </p:sp>
      <p:pic>
        <p:nvPicPr>
          <p:cNvPr id="29" name="Image 1" descr="/mnt/data/pptx_extract/ppt/media/image-7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029" y="1298448"/>
            <a:ext cx="1045741" cy="1353312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5285232" y="2816352"/>
            <a:ext cx="6117336" cy="1463040"/>
          </a:xfrm>
          <a:prstGeom prst="roundRect">
            <a:avLst>
              <a:gd name="adj" fmla="val 3125"/>
            </a:avLst>
          </a:prstGeom>
          <a:solidFill>
            <a:srgbClr val="FDFEFE"/>
          </a:solidFill>
          <a:ln w="10160">
            <a:solidFill>
              <a:srgbClr val="E4ECF0"/>
            </a:solidFill>
            <a:prstDash val="solid"/>
          </a:ln>
        </p:spPr>
      </p:sp>
      <p:pic>
        <p:nvPicPr>
          <p:cNvPr id="31" name="Image 2" descr="/mnt/data/pptx_extract/ppt/media/image-7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1029" y="2871216"/>
            <a:ext cx="1045741" cy="1353312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5285232" y="4389120"/>
            <a:ext cx="6117336" cy="1463040"/>
          </a:xfrm>
          <a:prstGeom prst="roundRect">
            <a:avLst>
              <a:gd name="adj" fmla="val 3125"/>
            </a:avLst>
          </a:prstGeom>
          <a:solidFill>
            <a:srgbClr val="FDFEFE"/>
          </a:solidFill>
          <a:ln w="10160">
            <a:solidFill>
              <a:srgbClr val="E4ECF0"/>
            </a:solidFill>
            <a:prstDash val="solid"/>
          </a:ln>
        </p:spPr>
      </p:sp>
      <p:pic>
        <p:nvPicPr>
          <p:cNvPr id="33" name="Image 3" descr="/mnt/data/pptx_extract/ppt/media/image-7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1029" y="4443984"/>
            <a:ext cx="1045741" cy="1353312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5285232" y="5961888"/>
            <a:ext cx="6117336" cy="219456"/>
          </a:xfrm>
          <a:prstGeom prst="roundRect">
            <a:avLst>
              <a:gd name="adj" fmla="val 20833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376672" y="5998464"/>
            <a:ext cx="5934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5D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E3P1 · E3P2 · E3P3 · E3P5</a:t>
            </a:r>
            <a:endParaRPr lang="en-US" sz="650" dirty="0"/>
          </a:p>
        </p:txBody>
      </p:sp>
      <p:sp>
        <p:nvSpPr>
          <p:cNvPr id="36" name="Text 30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PROVEEDORES + TRABAJO CONTRATADO + AVANCE + EVIDENCIAS</a:t>
            </a:r>
            <a:endParaRPr lang="en-US" sz="650" dirty="0"/>
          </a:p>
        </p:txBody>
      </p:sp>
      <p:sp>
        <p:nvSpPr>
          <p:cNvPr id="37" name="Text 31"/>
          <p:cNvSpPr/>
          <p:nvPr/>
        </p:nvSpPr>
        <p:spPr>
          <a:xfrm>
            <a:off x="937260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60" dirty="0">
                <a:solidFill>
                  <a:srgbClr val="B6BF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EC0935 · Gestión de trabajo por proyectos</a:t>
            </a:r>
            <a:endParaRPr lang="en-US" sz="5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39128"/>
            <a:ext cx="12191695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01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760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5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 Avance y control de cambios</a:t>
            </a:r>
            <a:endParaRPr lang="en-US" sz="2000" dirty="0"/>
          </a:p>
        </p:txBody>
      </p:sp>
      <p:pic>
        <p:nvPicPr>
          <p:cNvPr id="7" name="Image 0" descr="/mnt/data/pptx_extract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4978" y="228600"/>
            <a:ext cx="301524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124712"/>
            <a:ext cx="1965960" cy="256032"/>
          </a:xfrm>
          <a:prstGeom prst="roundRect">
            <a:avLst>
              <a:gd name="adj" fmla="val 28571"/>
            </a:avLst>
          </a:prstGeom>
          <a:solidFill>
            <a:srgbClr val="E8F5E9"/>
          </a:solidFill>
          <a:ln w="12700">
            <a:solidFill>
              <a:srgbClr val="2E7D32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116128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CORTE: 30 OCTUBRE 2026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66928" y="15819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PT1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2350008" y="1682496"/>
            <a:ext cx="1600200" cy="0"/>
          </a:xfrm>
          <a:prstGeom prst="line">
            <a:avLst/>
          </a:prstGeom>
          <a:noFill/>
          <a:ln w="69850">
            <a:solidFill>
              <a:srgbClr val="E7EE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50008" y="1600200"/>
            <a:ext cx="1600200" cy="164592"/>
          </a:xfrm>
          <a:prstGeom prst="roundRect">
            <a:avLst>
              <a:gd name="adj" fmla="val 2222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87368" y="158191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100%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66928" y="2011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PT2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2350008" y="2112264"/>
            <a:ext cx="1600200" cy="0"/>
          </a:xfrm>
          <a:prstGeom prst="line">
            <a:avLst/>
          </a:prstGeom>
          <a:noFill/>
          <a:ln w="69850">
            <a:solidFill>
              <a:srgbClr val="E7EE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350008" y="2029968"/>
            <a:ext cx="1600200" cy="164592"/>
          </a:xfrm>
          <a:prstGeom prst="roundRect">
            <a:avLst>
              <a:gd name="adj" fmla="val 2222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87368" y="20116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100%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66928" y="24414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PT3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2350008" y="2542032"/>
            <a:ext cx="1600200" cy="0"/>
          </a:xfrm>
          <a:prstGeom prst="line">
            <a:avLst/>
          </a:prstGeom>
          <a:noFill/>
          <a:ln w="69850">
            <a:solidFill>
              <a:srgbClr val="E7EE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350008" y="2459736"/>
            <a:ext cx="1600200" cy="164592"/>
          </a:xfrm>
          <a:prstGeom prst="roundRect">
            <a:avLst>
              <a:gd name="adj" fmla="val 2222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87368" y="244144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100%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66928" y="28712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PT4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2350008" y="2971800"/>
            <a:ext cx="1600200" cy="0"/>
          </a:xfrm>
          <a:prstGeom prst="line">
            <a:avLst/>
          </a:prstGeom>
          <a:noFill/>
          <a:ln w="69850">
            <a:solidFill>
              <a:srgbClr val="E7EE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350008" y="2889504"/>
            <a:ext cx="880110" cy="164592"/>
          </a:xfrm>
          <a:prstGeom prst="roundRect">
            <a:avLst>
              <a:gd name="adj" fmla="val 22222"/>
            </a:avLst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87368" y="287121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proceso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66928" y="33009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PT7</a:t>
            </a:r>
            <a:endParaRPr lang="en-US" sz="820" dirty="0"/>
          </a:p>
        </p:txBody>
      </p:sp>
      <p:sp>
        <p:nvSpPr>
          <p:cNvPr id="27" name="Shape 24"/>
          <p:cNvSpPr/>
          <p:nvPr/>
        </p:nvSpPr>
        <p:spPr>
          <a:xfrm>
            <a:off x="2350008" y="3401568"/>
            <a:ext cx="1600200" cy="0"/>
          </a:xfrm>
          <a:prstGeom prst="line">
            <a:avLst/>
          </a:prstGeom>
          <a:noFill/>
          <a:ln w="69850">
            <a:solidFill>
              <a:srgbClr val="E7EEF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350008" y="3319272"/>
            <a:ext cx="720090" cy="164592"/>
          </a:xfrm>
          <a:prstGeom prst="roundRect">
            <a:avLst>
              <a:gd name="adj" fmla="val 22222"/>
            </a:avLst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087368" y="330098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proceso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566928" y="3977640"/>
            <a:ext cx="3840480" cy="868680"/>
          </a:xfrm>
          <a:prstGeom prst="roundRect">
            <a:avLst>
              <a:gd name="adj" fmla="val 10526"/>
            </a:avLst>
          </a:prstGeom>
          <a:solidFill>
            <a:srgbClr val="FFF8E1"/>
          </a:solidFill>
          <a:ln w="12700">
            <a:solidFill>
              <a:srgbClr val="F3D99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9808" y="413308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Cambio relevante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49808" y="43708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PT5 externo se canceló y su alcance se internalizó dentro de PT4.</a:t>
            </a:r>
            <a:endParaRPr lang="en-US" sz="920" dirty="0"/>
          </a:p>
        </p:txBody>
      </p:sp>
      <p:sp>
        <p:nvSpPr>
          <p:cNvPr id="33" name="Shape 30"/>
          <p:cNvSpPr/>
          <p:nvPr/>
        </p:nvSpPr>
        <p:spPr>
          <a:xfrm>
            <a:off x="566928" y="5166360"/>
            <a:ext cx="3840480" cy="475488"/>
          </a:xfrm>
          <a:prstGeom prst="roundRect">
            <a:avLst>
              <a:gd name="adj" fmla="val 15385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" y="528523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Seguimiento con lista de verificación y evidencias físicas.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029200" y="987552"/>
            <a:ext cx="662940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3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029200" y="987552"/>
            <a:ext cx="73152" cy="53218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285232" y="1243584"/>
            <a:ext cx="6117336" cy="2221992"/>
          </a:xfrm>
          <a:prstGeom prst="roundRect">
            <a:avLst>
              <a:gd name="adj" fmla="val 2469"/>
            </a:avLst>
          </a:prstGeom>
          <a:solidFill>
            <a:srgbClr val="FDFEFE"/>
          </a:solidFill>
          <a:ln w="10160">
            <a:solidFill>
              <a:srgbClr val="E4ECF0"/>
            </a:solidFill>
            <a:prstDash val="solid"/>
          </a:ln>
        </p:spPr>
      </p:sp>
      <p:pic>
        <p:nvPicPr>
          <p:cNvPr id="38" name="Image 1" descr="/mnt/data/pptx_extract/ppt/media/image-8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930" y="1316736"/>
            <a:ext cx="1603941" cy="2075688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5285232" y="3630168"/>
            <a:ext cx="6117336" cy="2221992"/>
          </a:xfrm>
          <a:prstGeom prst="roundRect">
            <a:avLst>
              <a:gd name="adj" fmla="val 2469"/>
            </a:avLst>
          </a:prstGeom>
          <a:solidFill>
            <a:srgbClr val="FDFEFE"/>
          </a:solidFill>
          <a:ln w="10160">
            <a:solidFill>
              <a:srgbClr val="E4ECF0"/>
            </a:solidFill>
            <a:prstDash val="solid"/>
          </a:ln>
        </p:spPr>
      </p:sp>
      <p:pic>
        <p:nvPicPr>
          <p:cNvPr id="40" name="Image 2" descr="/mnt/data/pptx_extract/ppt/media/image-8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930" y="3703320"/>
            <a:ext cx="1603941" cy="2075688"/>
          </a:xfrm>
          <a:prstGeom prst="rect">
            <a:avLst/>
          </a:prstGeom>
        </p:spPr>
      </p:pic>
      <p:sp>
        <p:nvSpPr>
          <p:cNvPr id="41" name="Shape 36"/>
          <p:cNvSpPr/>
          <p:nvPr/>
        </p:nvSpPr>
        <p:spPr>
          <a:xfrm>
            <a:off x="5285232" y="5961888"/>
            <a:ext cx="6117336" cy="219456"/>
          </a:xfrm>
          <a:prstGeom prst="roundRect">
            <a:avLst>
              <a:gd name="adj" fmla="val 20833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5376672" y="5998464"/>
            <a:ext cx="5934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5D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E3P4 · E3P5 / avance y fotos físicas</a:t>
            </a:r>
            <a:endParaRPr lang="en-US" sz="650" dirty="0"/>
          </a:p>
        </p:txBody>
      </p:sp>
      <p:sp>
        <p:nvSpPr>
          <p:cNvPr id="43" name="Text 38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E3P4 LISTA DE VERIFICACIÓN + E3P5 EVIDENCIAS</a:t>
            </a:r>
            <a:endParaRPr lang="en-US" sz="650" dirty="0"/>
          </a:p>
        </p:txBody>
      </p:sp>
      <p:sp>
        <p:nvSpPr>
          <p:cNvPr id="44" name="Text 39"/>
          <p:cNvSpPr/>
          <p:nvPr/>
        </p:nvSpPr>
        <p:spPr>
          <a:xfrm>
            <a:off x="937260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60" dirty="0">
                <a:solidFill>
                  <a:srgbClr val="B6BF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EC0935 · Gestión de trabajo por proyectos</a:t>
            </a:r>
            <a:endParaRPr lang="en-US" sz="5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39128"/>
            <a:ext cx="12191695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01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VERIFICAR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760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5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8. Control y cambios</a:t>
            </a:r>
            <a:endParaRPr lang="en-US" sz="2000" dirty="0"/>
          </a:p>
        </p:txBody>
      </p:sp>
      <p:pic>
        <p:nvPicPr>
          <p:cNvPr id="7" name="Image 0" descr="/mnt/data/pptx_extract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4978" y="228600"/>
            <a:ext cx="301524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124712"/>
            <a:ext cx="1874520" cy="256032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2700">
            <a:solidFill>
              <a:srgbClr val="0277BD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116128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CAMBIOS AUTORIZADOS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66928" y="1600200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49808" y="1709928"/>
            <a:ext cx="310896" cy="31089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1783080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001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188720" y="169164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PT5 externo → PT4 interno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88720" y="189280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$350 MXN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566928" y="2386584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9808" y="2496312"/>
            <a:ext cx="310896" cy="310896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9808" y="2569464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002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1188720" y="247802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Sensor de luz BH1750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88720" y="2679192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Aumenta $85 MXN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566928" y="3172968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49808" y="3282696"/>
            <a:ext cx="310896" cy="310896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9808" y="3355848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003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1188720" y="326440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Válvulas antirretorno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88720" y="3465576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Aumenta $160 MXN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566928" y="4370832"/>
            <a:ext cx="175564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58368" y="444398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-$105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58368" y="471830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impacto neto</a:t>
            </a:r>
            <a:endParaRPr lang="en-US" sz="640" dirty="0"/>
          </a:p>
        </p:txBody>
      </p:sp>
      <p:sp>
        <p:nvSpPr>
          <p:cNvPr id="28" name="Shape 25"/>
          <p:cNvSpPr/>
          <p:nvPr/>
        </p:nvSpPr>
        <p:spPr>
          <a:xfrm>
            <a:off x="2432304" y="4370832"/>
            <a:ext cx="175564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2523744" y="444398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$6,245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2523744" y="471830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costo ajustado</a:t>
            </a:r>
            <a:endParaRPr lang="en-US" sz="640" dirty="0"/>
          </a:p>
        </p:txBody>
      </p:sp>
      <p:sp>
        <p:nvSpPr>
          <p:cNvPr id="31" name="Text 28"/>
          <p:cNvSpPr/>
          <p:nvPr/>
        </p:nvSpPr>
        <p:spPr>
          <a:xfrm>
            <a:off x="685800" y="536752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5D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Ningún cambio modifica la fecha final: 11/12/2026.</a:t>
            </a:r>
            <a:endParaRPr lang="en-US" sz="880" dirty="0"/>
          </a:p>
        </p:txBody>
      </p:sp>
      <p:sp>
        <p:nvSpPr>
          <p:cNvPr id="32" name="Shape 29"/>
          <p:cNvSpPr/>
          <p:nvPr/>
        </p:nvSpPr>
        <p:spPr>
          <a:xfrm>
            <a:off x="5029200" y="987552"/>
            <a:ext cx="662940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3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029200" y="987552"/>
            <a:ext cx="73152" cy="53218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pic>
        <p:nvPicPr>
          <p:cNvPr id="34" name="Image 1" descr="/mnt/data/pptx_extract/ppt/media/image-9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880" y="1243584"/>
            <a:ext cx="5964040" cy="4608576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5285232" y="5961888"/>
            <a:ext cx="6117336" cy="219456"/>
          </a:xfrm>
          <a:prstGeom prst="roundRect">
            <a:avLst>
              <a:gd name="adj" fmla="val 20833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376672" y="5998464"/>
            <a:ext cx="5934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5D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E4P1 · Cambios autorizados</a:t>
            </a:r>
            <a:endParaRPr lang="en-US" sz="650" dirty="0"/>
          </a:p>
        </p:txBody>
      </p:sp>
      <p:sp>
        <p:nvSpPr>
          <p:cNvPr id="37" name="Text 33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E4P1 CAMBIOS AUTORIZADOS + E4P2 ESTADO ACTUAL</a:t>
            </a:r>
            <a:endParaRPr lang="en-US" sz="650" dirty="0"/>
          </a:p>
        </p:txBody>
      </p:sp>
      <p:sp>
        <p:nvSpPr>
          <p:cNvPr id="38" name="Text 34"/>
          <p:cNvSpPr/>
          <p:nvPr/>
        </p:nvSpPr>
        <p:spPr>
          <a:xfrm>
            <a:off x="937260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60" dirty="0">
                <a:solidFill>
                  <a:srgbClr val="B6BF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EC0935 · Gestión de trabajo por proyectos</a:t>
            </a:r>
            <a:endParaRPr lang="en-US" sz="5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39128"/>
            <a:ext cx="12191695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01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VERIFICAR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760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5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9. Estado y verificación</a:t>
            </a:r>
            <a:endParaRPr lang="en-US" sz="2000" dirty="0"/>
          </a:p>
        </p:txBody>
      </p:sp>
      <p:pic>
        <p:nvPicPr>
          <p:cNvPr id="7" name="Image 0" descr="/mnt/data/pptx_extract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4978" y="228600"/>
            <a:ext cx="301524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124712"/>
            <a:ext cx="1508760" cy="256032"/>
          </a:xfrm>
          <a:prstGeom prst="roundRect">
            <a:avLst>
              <a:gd name="adj" fmla="val 28571"/>
            </a:avLst>
          </a:prstGeom>
          <a:solidFill>
            <a:srgbClr val="E8F5E9"/>
          </a:solidFill>
          <a:ln w="12700">
            <a:solidFill>
              <a:srgbClr val="2E7D32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116128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PANEL DE CONTROL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66928" y="1627632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9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68096" y="173736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TIEMPO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532888" y="18105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estado general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66928" y="2505456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9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68096" y="261518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$6,245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532888" y="26883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costo ajustado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66928" y="3383280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9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68096" y="349300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5D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$5,730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532888" y="356616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pagado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66928" y="4617720"/>
            <a:ext cx="3840480" cy="786384"/>
          </a:xfrm>
          <a:prstGeom prst="roundRect">
            <a:avLst>
              <a:gd name="adj" fmla="val 11628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" y="472744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Verificación final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49808" y="495604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PT1–PT9 verificados; PT5 cerrado por cambio 001 e integrado en PT4.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5029200" y="987552"/>
            <a:ext cx="662940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3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029200" y="987552"/>
            <a:ext cx="73152" cy="53218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285232" y="1243584"/>
            <a:ext cx="6117336" cy="2221992"/>
          </a:xfrm>
          <a:prstGeom prst="roundRect">
            <a:avLst>
              <a:gd name="adj" fmla="val 2469"/>
            </a:avLst>
          </a:prstGeom>
          <a:solidFill>
            <a:srgbClr val="FDFEFE"/>
          </a:solidFill>
          <a:ln w="10160">
            <a:solidFill>
              <a:srgbClr val="E4ECF0"/>
            </a:solidFill>
            <a:prstDash val="solid"/>
          </a:ln>
        </p:spPr>
      </p:sp>
      <p:pic>
        <p:nvPicPr>
          <p:cNvPr id="25" name="Image 1" descr="/mnt/data/pptx_extract/ppt/media/image-10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930" y="1316736"/>
            <a:ext cx="1603941" cy="2075688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5285232" y="3630168"/>
            <a:ext cx="6117336" cy="2221992"/>
          </a:xfrm>
          <a:prstGeom prst="roundRect">
            <a:avLst>
              <a:gd name="adj" fmla="val 2469"/>
            </a:avLst>
          </a:prstGeom>
          <a:solidFill>
            <a:srgbClr val="FDFEFE"/>
          </a:solidFill>
          <a:ln w="10160">
            <a:solidFill>
              <a:srgbClr val="E4ECF0"/>
            </a:solidFill>
            <a:prstDash val="solid"/>
          </a:ln>
        </p:spPr>
      </p:sp>
      <p:pic>
        <p:nvPicPr>
          <p:cNvPr id="27" name="Image 2" descr="/mnt/data/pptx_extract/ppt/media/image-10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930" y="3703320"/>
            <a:ext cx="1603941" cy="2075688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5285232" y="5961888"/>
            <a:ext cx="6117336" cy="219456"/>
          </a:xfrm>
          <a:prstGeom prst="roundRect">
            <a:avLst>
              <a:gd name="adj" fmla="val 20833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376672" y="5998464"/>
            <a:ext cx="5934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5D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E4P2 · Estado / E4P3 · Verificación</a:t>
            </a:r>
            <a:endParaRPr lang="en-US" sz="650" dirty="0"/>
          </a:p>
        </p:txBody>
      </p:sp>
      <p:sp>
        <p:nvSpPr>
          <p:cNvPr id="30" name="Text 25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E4P2 REPORTE DE ESTADO + E4P3 VERIFICACIÓN</a:t>
            </a:r>
            <a:endParaRPr lang="en-US" sz="650" dirty="0"/>
          </a:p>
        </p:txBody>
      </p:sp>
      <p:sp>
        <p:nvSpPr>
          <p:cNvPr id="31" name="Text 26"/>
          <p:cNvSpPr/>
          <p:nvPr/>
        </p:nvSpPr>
        <p:spPr>
          <a:xfrm>
            <a:off x="937260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60" dirty="0">
                <a:solidFill>
                  <a:srgbClr val="B6BF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EC0935 · Gestión de trabajo por proyectos</a:t>
            </a:r>
            <a:endParaRPr lang="en-US" sz="5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39128"/>
            <a:ext cx="12191695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01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FINALIZAR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760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5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10. Cierre del proyecto</a:t>
            </a:r>
            <a:endParaRPr lang="en-US" sz="2000" dirty="0"/>
          </a:p>
        </p:txBody>
      </p:sp>
      <p:pic>
        <p:nvPicPr>
          <p:cNvPr id="7" name="Image 0" descr="/mnt/data/pptx_extract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4978" y="228600"/>
            <a:ext cx="301524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1247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E8F5E9"/>
          </a:solidFill>
          <a:ln w="12700">
            <a:solidFill>
              <a:srgbClr val="2E7D32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1161288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CIERRE ADMINISTRATIVO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66928" y="1719072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1645920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Todos los paquetes vigentes y actividades quedan concluidos y verificados.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566928" y="2221992"/>
            <a:ext cx="137160" cy="13716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2148840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PT5 se cerró por cambio autorizado 001 y se transfirió a PT4.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566928" y="2724912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651760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Costo real final ejercido: $6,045 MXN.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566928" y="3227832"/>
            <a:ext cx="137160" cy="13716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3154680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Adeudo final: $0 MXN.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566928" y="3730752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3657600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Expediente integrado: reportes, evidencias, costos y aprendizajes.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566928" y="5120640"/>
            <a:ext cx="175564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58368" y="519379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58368" y="546811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adeudos</a:t>
            </a:r>
            <a:endParaRPr lang="en-US" sz="640" dirty="0"/>
          </a:p>
        </p:txBody>
      </p:sp>
      <p:sp>
        <p:nvSpPr>
          <p:cNvPr id="23" name="Shape 20"/>
          <p:cNvSpPr/>
          <p:nvPr/>
        </p:nvSpPr>
        <p:spPr>
          <a:xfrm>
            <a:off x="2432304" y="5120640"/>
            <a:ext cx="175564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2523744" y="519379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$200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523744" y="546811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saldo no ejercido</a:t>
            </a:r>
            <a:endParaRPr lang="en-US" sz="640" dirty="0"/>
          </a:p>
        </p:txBody>
      </p:sp>
      <p:sp>
        <p:nvSpPr>
          <p:cNvPr id="26" name="Shape 23"/>
          <p:cNvSpPr/>
          <p:nvPr/>
        </p:nvSpPr>
        <p:spPr>
          <a:xfrm>
            <a:off x="5029200" y="987552"/>
            <a:ext cx="662940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3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029200" y="987552"/>
            <a:ext cx="73152" cy="53218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pic>
        <p:nvPicPr>
          <p:cNvPr id="28" name="Image 1" descr="/mnt/data/pptx_extract/ppt/media/image-11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314" y="1243584"/>
            <a:ext cx="3561172" cy="4608576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5285232" y="5961888"/>
            <a:ext cx="6117336" cy="219456"/>
          </a:xfrm>
          <a:prstGeom prst="roundRect">
            <a:avLst>
              <a:gd name="adj" fmla="val 20833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376672" y="5998464"/>
            <a:ext cx="5934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5D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E5P1 · Reporte Final</a:t>
            </a:r>
            <a:endParaRPr lang="en-US" sz="650" dirty="0"/>
          </a:p>
        </p:txBody>
      </p:sp>
      <p:sp>
        <p:nvSpPr>
          <p:cNvPr id="31" name="Text 27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E5P1 REPORTE FINAL</a:t>
            </a:r>
            <a:endParaRPr lang="en-US" sz="650" dirty="0"/>
          </a:p>
        </p:txBody>
      </p:sp>
      <p:sp>
        <p:nvSpPr>
          <p:cNvPr id="32" name="Text 28"/>
          <p:cNvSpPr/>
          <p:nvPr/>
        </p:nvSpPr>
        <p:spPr>
          <a:xfrm>
            <a:off x="937260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60" dirty="0">
                <a:solidFill>
                  <a:srgbClr val="B6BF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EC0935 · Gestión de trabajo por proyectos</a:t>
            </a:r>
            <a:endParaRPr lang="en-US" sz="5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39128"/>
            <a:ext cx="12191695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01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FINALIZAR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760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5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11. Aprendizajes y cierre</a:t>
            </a:r>
            <a:endParaRPr lang="en-US" sz="2000" dirty="0"/>
          </a:p>
        </p:txBody>
      </p:sp>
      <p:pic>
        <p:nvPicPr>
          <p:cNvPr id="7" name="Image 0" descr="/mnt/data/pptx_extract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4978" y="228600"/>
            <a:ext cx="301524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12471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2700">
            <a:solidFill>
              <a:srgbClr val="0277BD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116128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LECCIONES CLAVE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66928" y="1627632"/>
            <a:ext cx="384048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58952" y="1783080"/>
            <a:ext cx="292608" cy="29260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58952" y="179679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88720" y="171907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Validar por etapas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1188720" y="1947672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Hidráulica → electrónica → firmware → plataforma.</a:t>
            </a:r>
            <a:endParaRPr lang="en-US" sz="710" dirty="0"/>
          </a:p>
        </p:txBody>
      </p:sp>
      <p:sp>
        <p:nvSpPr>
          <p:cNvPr id="15" name="Shape 12"/>
          <p:cNvSpPr/>
          <p:nvPr/>
        </p:nvSpPr>
        <p:spPr>
          <a:xfrm>
            <a:off x="566928" y="2468880"/>
            <a:ext cx="384048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58952" y="2624328"/>
            <a:ext cx="292608" cy="292608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58952" y="2638044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88720" y="256032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 local</a:t>
            </a:r>
            <a:endParaRPr lang="en-US" sz="880" dirty="0"/>
          </a:p>
        </p:txBody>
      </p:sp>
      <p:sp>
        <p:nvSpPr>
          <p:cNvPr id="19" name="Text 16"/>
          <p:cNvSpPr/>
          <p:nvPr/>
        </p:nvSpPr>
        <p:spPr>
          <a:xfrm>
            <a:off x="1188720" y="2788920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Riego, protección y dosificación continúan sin Internet.</a:t>
            </a:r>
            <a:endParaRPr lang="en-US" sz="710" dirty="0"/>
          </a:p>
        </p:txBody>
      </p:sp>
      <p:sp>
        <p:nvSpPr>
          <p:cNvPr id="20" name="Shape 17"/>
          <p:cNvSpPr/>
          <p:nvPr/>
        </p:nvSpPr>
        <p:spPr>
          <a:xfrm>
            <a:off x="566928" y="3310128"/>
            <a:ext cx="384048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58952" y="3465576"/>
            <a:ext cx="292608" cy="29260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58952" y="347929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88720" y="340156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Dosificación segura</a:t>
            </a:r>
            <a:endParaRPr lang="en-US" sz="880" dirty="0"/>
          </a:p>
        </p:txBody>
      </p:sp>
      <p:sp>
        <p:nvSpPr>
          <p:cNvPr id="24" name="Text 21"/>
          <p:cNvSpPr/>
          <p:nvPr/>
        </p:nvSpPr>
        <p:spPr>
          <a:xfrm>
            <a:off x="1188720" y="3630168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Calibrar, mezclar, releer y limitar cada corrección.</a:t>
            </a:r>
            <a:endParaRPr lang="en-US" sz="710" dirty="0"/>
          </a:p>
        </p:txBody>
      </p:sp>
      <p:sp>
        <p:nvSpPr>
          <p:cNvPr id="25" name="Shape 22"/>
          <p:cNvSpPr/>
          <p:nvPr/>
        </p:nvSpPr>
        <p:spPr>
          <a:xfrm>
            <a:off x="566928" y="4151376"/>
            <a:ext cx="384048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58952" y="4306824"/>
            <a:ext cx="292608" cy="292608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58952" y="43205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88720" y="424281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Trazabilidad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1188720" y="4471416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Cambios, costos y evidencias vinculados al expediente.</a:t>
            </a:r>
            <a:endParaRPr lang="en-US" sz="710" dirty="0"/>
          </a:p>
        </p:txBody>
      </p:sp>
      <p:sp>
        <p:nvSpPr>
          <p:cNvPr id="30" name="Shape 27"/>
          <p:cNvSpPr/>
          <p:nvPr/>
        </p:nvSpPr>
        <p:spPr>
          <a:xfrm>
            <a:off x="566928" y="5257800"/>
            <a:ext cx="3840480" cy="566928"/>
          </a:xfrm>
          <a:prstGeom prst="roundRect">
            <a:avLst>
              <a:gd name="adj" fmla="val 14516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9808" y="5413248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5D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Junta de cierre: 11 de diciembre de 2026 · aceptación administrativa del proyecto.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5029200" y="987552"/>
            <a:ext cx="662940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3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029200" y="987552"/>
            <a:ext cx="73152" cy="53218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285232" y="1243584"/>
            <a:ext cx="6117336" cy="2221992"/>
          </a:xfrm>
          <a:prstGeom prst="roundRect">
            <a:avLst>
              <a:gd name="adj" fmla="val 2469"/>
            </a:avLst>
          </a:prstGeom>
          <a:solidFill>
            <a:srgbClr val="FDFEFE"/>
          </a:solidFill>
          <a:ln w="10160">
            <a:solidFill>
              <a:srgbClr val="E4ECF0"/>
            </a:solidFill>
            <a:prstDash val="solid"/>
          </a:ln>
        </p:spPr>
      </p:sp>
      <p:pic>
        <p:nvPicPr>
          <p:cNvPr id="35" name="Image 1" descr="/mnt/data/pptx_extract/ppt/media/image-12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930" y="1316736"/>
            <a:ext cx="1603941" cy="2075688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5285232" y="3630168"/>
            <a:ext cx="6117336" cy="2221992"/>
          </a:xfrm>
          <a:prstGeom prst="roundRect">
            <a:avLst>
              <a:gd name="adj" fmla="val 2469"/>
            </a:avLst>
          </a:prstGeom>
          <a:solidFill>
            <a:srgbClr val="FDFEFE"/>
          </a:solidFill>
          <a:ln w="10160">
            <a:solidFill>
              <a:srgbClr val="E4ECF0"/>
            </a:solidFill>
            <a:prstDash val="solid"/>
          </a:ln>
        </p:spPr>
      </p:sp>
      <p:pic>
        <p:nvPicPr>
          <p:cNvPr id="37" name="Image 2" descr="/mnt/data/pptx_extract/ppt/media/image-12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930" y="3703320"/>
            <a:ext cx="1603941" cy="2075688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5285232" y="5961888"/>
            <a:ext cx="6117336" cy="219456"/>
          </a:xfrm>
          <a:prstGeom prst="roundRect">
            <a:avLst>
              <a:gd name="adj" fmla="val 20833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5376672" y="5998464"/>
            <a:ext cx="5934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5D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EVIDENCIAS FINALES: E5P1 · E5P2</a:t>
            </a:r>
            <a:endParaRPr lang="en-US" sz="650" dirty="0"/>
          </a:p>
        </p:txBody>
      </p:sp>
      <p:sp>
        <p:nvSpPr>
          <p:cNvPr id="40" name="Text 35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APRENDIZAJES + JUNTA DE CIERRE + ACEPTACIÓN</a:t>
            </a:r>
            <a:endParaRPr lang="en-US" sz="650" dirty="0"/>
          </a:p>
        </p:txBody>
      </p:sp>
      <p:sp>
        <p:nvSpPr>
          <p:cNvPr id="41" name="Text 36"/>
          <p:cNvSpPr/>
          <p:nvPr/>
        </p:nvSpPr>
        <p:spPr>
          <a:xfrm>
            <a:off x="937260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60" dirty="0">
                <a:solidFill>
                  <a:srgbClr val="B6BF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EC0935 · Gestión de trabajo por proyectos</a:t>
            </a:r>
            <a:endParaRPr lang="en-US" sz="5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UABC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HydroMate: Torre Hidropónica Inteligente Automatizada</dc:title>
  <dc:subject>HydroMate EC0935 Presentación Ejecutiva</dc:subject>
  <dc:creator>OpenAI</dc:creator>
  <cp:lastModifiedBy>OpenAI</cp:lastModifiedBy>
  <cp:revision>1</cp:revision>
  <dcterms:created xsi:type="dcterms:W3CDTF">2026-09-25T07:19:58Z</dcterms:created>
  <dcterms:modified xsi:type="dcterms:W3CDTF">2026-09-25T07:19:58Z</dcterms:modified>
</cp:coreProperties>
</file>