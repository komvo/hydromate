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ydromate_cover_mot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" y="777240"/>
            <a:ext cx="489204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4480560" cy="7772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500" b="1">
                <a:solidFill>
                  <a:srgbClr val="2E7D32"/>
                </a:solidFill>
                <a:latin typeface="Montserrat"/>
              </a:rPr>
              <a:t>HydroMate: Torre Hidropónica Inteligente Automatizada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2487168"/>
            <a:ext cx="3931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>
                <a:solidFill>
                  <a:srgbClr val="0277BD"/>
                </a:solidFill>
                <a:latin typeface="Roboto"/>
              </a:rPr>
              <a:t>Presentación Ejecutiva - Proyecto EC0935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" y="2798064"/>
            <a:ext cx="109728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3054096"/>
            <a:ext cx="4206240" cy="7132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Roboto"/>
              </a:rPr>
              <a:t>Metodología de proyecto: INICIAR → ORGANIZAR → IMPLEMENTAR → VERIFICAR → FINALIZAR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4023360"/>
            <a:ext cx="3337560" cy="475488"/>
          </a:xfrm>
          <a:prstGeom prst="roundRect">
            <a:avLst>
              <a:gd name="adj" fmla="val 12000"/>
            </a:avLst>
          </a:prstGeom>
          <a:solidFill>
            <a:srgbClr val="E9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142232"/>
            <a:ext cx="30175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1">
                <a:solidFill>
                  <a:srgbClr val="2E7D32"/>
                </a:solidFill>
                <a:latin typeface="Montserrat"/>
              </a:rPr>
              <a:t>Líder de Proyecto: Kevin Osmar Valdez Meza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6126480"/>
            <a:ext cx="29260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Roboto"/>
              </a:rPr>
              <a:t>EC0935 · Gestión de trabajo por proyectos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658368"/>
            <a:ext cx="6355080" cy="548640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40680" y="868680"/>
            <a:ext cx="5989320" cy="5084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bd57498-f697-5666-8c36-cba002712d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495" y="987552"/>
            <a:ext cx="2057688" cy="46542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23560" y="1005840"/>
            <a:ext cx="105156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0277BD"/>
                </a:solidFill>
                <a:latin typeface="Montserrat"/>
              </a:rPr>
              <a:t>PROTOTIPO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1325880"/>
            <a:ext cx="9601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Roboto"/>
              </a:rPr>
              <a:t>Torre vertical con depósito, recirculación y automatización basada en ESP32.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5669280"/>
            <a:ext cx="53949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50" b="0">
                <a:solidFill>
                  <a:srgbClr val="6B7280"/>
                </a:solidFill>
                <a:latin typeface="Roboto"/>
              </a:rPr>
              <a:t>Estética visual “Eco‑Tech”: hidroponía + agua + IoT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58600" y="6601968"/>
            <a:ext cx="22860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23444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INICIAR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37160"/>
            <a:ext cx="1389888" cy="310896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539496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400" b="1">
                <a:solidFill>
                  <a:srgbClr val="2E7D32"/>
                </a:solidFill>
                <a:latin typeface="Montserrat"/>
              </a:rPr>
              <a:t>2. Proyecto y objetivo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87552"/>
            <a:ext cx="960120" cy="27432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ydromate_small_ac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73152"/>
            <a:ext cx="658368" cy="6583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1356848" y="146304"/>
            <a:ext cx="512064" cy="512064"/>
          </a:xfrm>
          <a:prstGeom prst="roundRect">
            <a:avLst>
              <a:gd name="adj" fmla="val 12000"/>
            </a:avLst>
          </a:prstGeom>
          <a:solidFill>
            <a:srgbClr val="E9F5EA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649456" y="438912"/>
            <a:ext cx="219456" cy="219456"/>
          </a:xfrm>
          <a:prstGeom prst="roundRect">
            <a:avLst>
              <a:gd name="adj" fmla="val 12000"/>
            </a:avLst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3977639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" y="1380744"/>
            <a:ext cx="2377440" cy="310896"/>
          </a:xfrm>
          <a:prstGeom prst="roundRect">
            <a:avLst>
              <a:gd name="adj" fmla="val 12000"/>
            </a:avLst>
          </a:prstGeom>
          <a:solidFill>
            <a:srgbClr val="E9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1426464"/>
            <a:ext cx="3502151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Montserrat"/>
              </a:rPr>
              <a:t>Objetivo SMART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1801368"/>
            <a:ext cx="3575303" cy="40416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>
                <a:solidFill>
                  <a:srgbClr val="1F2937"/>
                </a:solidFill>
                <a:latin typeface="Roboto"/>
              </a:rPr>
              <a:t>• Desarrollar e integrar un prototipo funcional de torre hidropónica automatizada con ESP32.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>
                <a:solidFill>
                  <a:srgbClr val="1F2937"/>
                </a:solidFill>
                <a:latin typeface="Roboto"/>
              </a:rPr>
              <a:t>• Capacidad objetivo: hasta 8 plantas en una torre vertical recirculante.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>
                <a:solidFill>
                  <a:srgbClr val="1F2937"/>
                </a:solidFill>
                <a:latin typeface="Roboto"/>
              </a:rPr>
              <a:t>• Presupuesto autorizado: $6,350 MXN.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>
                <a:solidFill>
                  <a:srgbClr val="1F2937"/>
                </a:solidFill>
                <a:latin typeface="Roboto"/>
              </a:rPr>
              <a:t>• Variables base: pH, TDS/EC, temperatura, nivel/flujo y luz.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>
                <a:solidFill>
                  <a:srgbClr val="1F2937"/>
                </a:solidFill>
                <a:latin typeface="Roboto"/>
              </a:rPr>
              <a:t>• Fecha de cierre comprometida: 11 de diciembre de 2026.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1280160"/>
            <a:ext cx="6949440" cy="475488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54880" y="1234440"/>
            <a:ext cx="694944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19472" y="1399032"/>
            <a:ext cx="6620255" cy="301752"/>
          </a:xfrm>
          <a:prstGeom prst="roundRect">
            <a:avLst>
              <a:gd name="adj" fmla="val 12000"/>
            </a:avLst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10912" y="1435608"/>
            <a:ext cx="6437375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0277BD"/>
                </a:solidFill>
                <a:latin typeface="Montserrat"/>
              </a:rPr>
              <a:t>Espacio para evidencias / capturas</a:t>
            </a:r>
          </a:p>
        </p:txBody>
      </p:sp>
      <p:pic>
        <p:nvPicPr>
          <p:cNvPr id="18" name="Picture 17" descr="image-2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9969" y="1828800"/>
            <a:ext cx="2819261" cy="36484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956048" y="5623559"/>
            <a:ext cx="6547103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50" b="0">
                <a:solidFill>
                  <a:srgbClr val="6B7280"/>
                </a:solidFill>
                <a:latin typeface="Roboto"/>
              </a:rPr>
              <a:t>E1P1_Plan_Basico · objetivo, expectativas y producto esperado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6565392"/>
            <a:ext cx="11228832" cy="27432"/>
          </a:xfrm>
          <a:prstGeom prst="rect">
            <a:avLst/>
          </a:prstGeom>
          <a:solidFill>
            <a:srgbClr val="DD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INICIAR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5028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5028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ontserrat"/>
              </a:rPr>
              <a:t>ORGANIZAR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87137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7137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ontserrat"/>
              </a:rPr>
              <a:t>IMPLEMENTAR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9246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9246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ontserrat"/>
              </a:rPr>
              <a:t>VERIFICAR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71355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71355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ontserrat"/>
              </a:rPr>
              <a:t>FINALIZAR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6620256"/>
            <a:ext cx="347472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Roboto"/>
              </a:rPr>
              <a:t>EC0935 · Gestión de trabajo por proyectos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23444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INICIAR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37160"/>
            <a:ext cx="1389888" cy="310896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539496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400" b="1">
                <a:solidFill>
                  <a:srgbClr val="2E7D32"/>
                </a:solidFill>
                <a:latin typeface="Montserrat"/>
              </a:rPr>
              <a:t>3. Alcance y limitantes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87552"/>
            <a:ext cx="960120" cy="27432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ydromate_small_ac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73152"/>
            <a:ext cx="658368" cy="6583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1356848" y="146304"/>
            <a:ext cx="512064" cy="512064"/>
          </a:xfrm>
          <a:prstGeom prst="roundRect">
            <a:avLst>
              <a:gd name="adj" fmla="val 12000"/>
            </a:avLst>
          </a:prstGeom>
          <a:solidFill>
            <a:srgbClr val="E9F5EA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649456" y="438912"/>
            <a:ext cx="219456" cy="219456"/>
          </a:xfrm>
          <a:prstGeom prst="roundRect">
            <a:avLst>
              <a:gd name="adj" fmla="val 12000"/>
            </a:avLst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3977639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" y="1490472"/>
            <a:ext cx="356616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600200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627631"/>
            <a:ext cx="420624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2200" b="1">
                <a:solidFill>
                  <a:srgbClr val="0277BD"/>
                </a:solidFill>
                <a:latin typeface="Montserrat"/>
              </a:rPr>
              <a:t>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581912"/>
            <a:ext cx="285292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Montserrat"/>
              </a:rPr>
              <a:t>Horizonte del proyecto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" y="1792224"/>
            <a:ext cx="2834639" cy="7589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>
                <a:solidFill>
                  <a:srgbClr val="1F2937"/>
                </a:solidFill>
                <a:latin typeface="Roboto"/>
              </a:rPr>
              <a:t>16 semanas de ejecución.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>
                <a:solidFill>
                  <a:srgbClr val="1F2937"/>
                </a:solidFill>
                <a:latin typeface="Roboto"/>
              </a:rPr>
              <a:t>Fechas clave: 24/08 al 11/12/2026.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2743200"/>
            <a:ext cx="356616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2852928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880360"/>
            <a:ext cx="420624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2200" b="1">
                <a:solidFill>
                  <a:srgbClr val="0277BD"/>
                </a:solidFill>
                <a:latin typeface="Montserrat"/>
              </a:rPr>
              <a:t>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2834640"/>
            <a:ext cx="285292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Montserrat"/>
              </a:rPr>
              <a:t>Escala y alcance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024" y="3044952"/>
            <a:ext cx="2834639" cy="7589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>
                <a:solidFill>
                  <a:srgbClr val="1F2937"/>
                </a:solidFill>
                <a:latin typeface="Roboto"/>
              </a:rPr>
              <a:t>Se trata de un prototipo académico.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>
                <a:solidFill>
                  <a:srgbClr val="1F2937"/>
                </a:solidFill>
                <a:latin typeface="Roboto"/>
              </a:rPr>
              <a:t>No es un sistema industrial ni comercial.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041648"/>
            <a:ext cx="3520440" cy="1554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>
                <a:solidFill>
                  <a:srgbClr val="1F2937"/>
                </a:solidFill>
                <a:latin typeface="Roboto"/>
              </a:rPr>
              <a:t>• Supuestos: componentes disponibles, Wi‑Fi 2.4 GHz, herramientas y espacio de pruebas.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>
                <a:solidFill>
                  <a:srgbClr val="1F2937"/>
                </a:solidFill>
                <a:latin typeface="Roboto"/>
              </a:rPr>
              <a:t>• Limitantes: una sola torre, validación corta y enfoque formativo.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>
                <a:solidFill>
                  <a:srgbClr val="1F2937"/>
                </a:solidFill>
                <a:latin typeface="Roboto"/>
              </a:rPr>
              <a:t>• Alcance: planeación, hidráulica, electrónica, firmware, plataforma y cierre.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1280160"/>
            <a:ext cx="6949440" cy="475488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754880" y="1234440"/>
            <a:ext cx="694944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919472" y="1399032"/>
            <a:ext cx="6620255" cy="301752"/>
          </a:xfrm>
          <a:prstGeom prst="roundRect">
            <a:avLst>
              <a:gd name="adj" fmla="val 12000"/>
            </a:avLst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10912" y="1435608"/>
            <a:ext cx="6437375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0277BD"/>
                </a:solidFill>
                <a:latin typeface="Montserrat"/>
              </a:rPr>
              <a:t>Espacio para evidencias / capturas</a:t>
            </a:r>
          </a:p>
        </p:txBody>
      </p:sp>
      <p:pic>
        <p:nvPicPr>
          <p:cNvPr id="26" name="Picture 25" descr="image-3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9969" y="1828800"/>
            <a:ext cx="2819261" cy="364845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956048" y="5623559"/>
            <a:ext cx="6547103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50" b="0">
                <a:solidFill>
                  <a:srgbClr val="6B7280"/>
                </a:solidFill>
                <a:latin typeface="Roboto"/>
              </a:rPr>
              <a:t>E1P1 · supuestos, limitantes y antecedentes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" y="6565392"/>
            <a:ext cx="11228832" cy="27432"/>
          </a:xfrm>
          <a:prstGeom prst="rect">
            <a:avLst/>
          </a:prstGeom>
          <a:solidFill>
            <a:srgbClr val="DD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920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INICIAR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5028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5028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ontserrat"/>
              </a:rPr>
              <a:t>ORGANIZAR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87137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87137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ontserrat"/>
              </a:rPr>
              <a:t>IMPLEMENTAR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29246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9246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ontserrat"/>
              </a:rPr>
              <a:t>VERIFICAR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71355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71355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ontserrat"/>
              </a:rPr>
              <a:t>FINALIZAR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" y="6620256"/>
            <a:ext cx="347472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Roboto"/>
              </a:rPr>
              <a:t>EC0935 · Gestión de trabajo por proyectos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23444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INICIAR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37160"/>
            <a:ext cx="1389888" cy="310896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539496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400" b="1">
                <a:solidFill>
                  <a:srgbClr val="2E7D32"/>
                </a:solidFill>
                <a:latin typeface="Montserrat"/>
              </a:rPr>
              <a:t>4. Inicio formal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87552"/>
            <a:ext cx="960120" cy="27432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ydromate_small_ac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73152"/>
            <a:ext cx="658368" cy="6583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1356848" y="146304"/>
            <a:ext cx="512064" cy="512064"/>
          </a:xfrm>
          <a:prstGeom prst="roundRect">
            <a:avLst>
              <a:gd name="adj" fmla="val 12000"/>
            </a:avLst>
          </a:prstGeom>
          <a:solidFill>
            <a:srgbClr val="E9F5EA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649456" y="438912"/>
            <a:ext cx="219456" cy="219456"/>
          </a:xfrm>
          <a:prstGeom prst="roundRect">
            <a:avLst>
              <a:gd name="adj" fmla="val 12000"/>
            </a:avLst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3977639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" y="1481328"/>
            <a:ext cx="3566160" cy="566928"/>
          </a:xfrm>
          <a:prstGeom prst="roundRect">
            <a:avLst>
              <a:gd name="adj" fmla="val 12000"/>
            </a:avLst>
          </a:prstGeom>
          <a:solidFill>
            <a:srgbClr val="E9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1627632"/>
            <a:ext cx="3200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2E7D32"/>
                </a:solidFill>
                <a:latin typeface="Montserrat"/>
              </a:rPr>
              <a:t>Fecha clave: 18 septiembre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40280"/>
            <a:ext cx="3520440" cy="3108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20">
                <a:solidFill>
                  <a:srgbClr val="1F2937"/>
                </a:solidFill>
                <a:latin typeface="Roboto"/>
              </a:rPr>
              <a:t>• Se formaliza el proyecto, participantes y reglas de operación.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20">
                <a:solidFill>
                  <a:srgbClr val="1F2937"/>
                </a:solidFill>
                <a:latin typeface="Roboto"/>
              </a:rPr>
              <a:t>• Se acuerda mantener ESP32 como controlador principal del sistema.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20">
                <a:solidFill>
                  <a:srgbClr val="1F2937"/>
                </a:solidFill>
                <a:latin typeface="Roboto"/>
              </a:rPr>
              <a:t>• Acuerdo crítico: Funcionamiento del ESP32 garantizado sin conexión a Internet.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20">
                <a:solidFill>
                  <a:srgbClr val="1F2937"/>
                </a:solidFill>
                <a:latin typeface="Roboto"/>
              </a:rPr>
              <a:t>• Pendientes iniciales: lista de materiales, rangos de cultivo, revisión eléctrica y plan detallado.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1280160"/>
            <a:ext cx="6949440" cy="475488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54880" y="1234440"/>
            <a:ext cx="694944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19472" y="1399032"/>
            <a:ext cx="6620255" cy="301752"/>
          </a:xfrm>
          <a:prstGeom prst="roundRect">
            <a:avLst>
              <a:gd name="adj" fmla="val 12000"/>
            </a:avLst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10912" y="1435608"/>
            <a:ext cx="6437375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0277BD"/>
                </a:solidFill>
                <a:latin typeface="Montserrat"/>
              </a:rPr>
              <a:t>Espacio para evidencias / capturas</a:t>
            </a:r>
          </a:p>
        </p:txBody>
      </p:sp>
      <p:pic>
        <p:nvPicPr>
          <p:cNvPr id="18" name="Picture 17" descr="image-4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9969" y="1828800"/>
            <a:ext cx="2819261" cy="36484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956048" y="5623559"/>
            <a:ext cx="6547103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50" b="0">
                <a:solidFill>
                  <a:srgbClr val="6B7280"/>
                </a:solidFill>
                <a:latin typeface="Roboto"/>
              </a:rPr>
              <a:t>E1P2_Reporte_Junta_Inicio · acuerdos y participantes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6565392"/>
            <a:ext cx="11228832" cy="27432"/>
          </a:xfrm>
          <a:prstGeom prst="rect">
            <a:avLst/>
          </a:prstGeom>
          <a:solidFill>
            <a:srgbClr val="DD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INICIAR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5028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5028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ontserrat"/>
              </a:rPr>
              <a:t>ORGANIZAR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87137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7137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ontserrat"/>
              </a:rPr>
              <a:t>IMPLEMENTAR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9246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9246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ontserrat"/>
              </a:rPr>
              <a:t>VERIFICAR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71355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71355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ontserrat"/>
              </a:rPr>
              <a:t>FINALIZAR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6620256"/>
            <a:ext cx="347472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Roboto"/>
              </a:rPr>
              <a:t>EC0935 · Gestión de trabajo por proyectos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23444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ORGANIZAR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37160"/>
            <a:ext cx="1389888" cy="310896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539496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400" b="1">
                <a:solidFill>
                  <a:srgbClr val="2E7D32"/>
                </a:solidFill>
                <a:latin typeface="Montserrat"/>
              </a:rPr>
              <a:t>5. Plan detallado y riesgos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87552"/>
            <a:ext cx="960120" cy="27432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ydromate_small_ac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73152"/>
            <a:ext cx="658368" cy="6583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1356848" y="146304"/>
            <a:ext cx="512064" cy="512064"/>
          </a:xfrm>
          <a:prstGeom prst="roundRect">
            <a:avLst>
              <a:gd name="adj" fmla="val 12000"/>
            </a:avLst>
          </a:prstGeom>
          <a:solidFill>
            <a:srgbClr val="E9F5EA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649456" y="438912"/>
            <a:ext cx="219456" cy="219456"/>
          </a:xfrm>
          <a:prstGeom prst="roundRect">
            <a:avLst>
              <a:gd name="adj" fmla="val 12000"/>
            </a:avLst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3977639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63040"/>
            <a:ext cx="17830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1">
                <a:solidFill>
                  <a:srgbClr val="2E7D32"/>
                </a:solidFill>
                <a:latin typeface="Montserrat"/>
              </a:rPr>
              <a:t>Paquetes de trabajo (9)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1737360"/>
            <a:ext cx="146304" cy="146304"/>
          </a:xfrm>
          <a:prstGeom prst="roundRect">
            <a:avLst>
              <a:gd name="adj" fmla="val 12000"/>
            </a:avLst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1719072"/>
            <a:ext cx="15544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70" b="0">
                <a:solidFill>
                  <a:srgbClr val="1F2937"/>
                </a:solidFill>
                <a:latin typeface="Roboto"/>
              </a:rPr>
              <a:t>PT1 Planeación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2121408"/>
            <a:ext cx="146304" cy="146304"/>
          </a:xfrm>
          <a:prstGeom prst="roundRect">
            <a:avLst>
              <a:gd name="adj" fmla="val 12000"/>
            </a:avLst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2103120"/>
            <a:ext cx="15544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70" b="0">
                <a:solidFill>
                  <a:srgbClr val="1F2937"/>
                </a:solidFill>
                <a:latin typeface="Roboto"/>
              </a:rPr>
              <a:t>PT2 Torre e hidráulica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2505456"/>
            <a:ext cx="146304" cy="146304"/>
          </a:xfrm>
          <a:prstGeom prst="roundRect">
            <a:avLst>
              <a:gd name="adj" fmla="val 12000"/>
            </a:avLst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2487168"/>
            <a:ext cx="15544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70" b="0">
                <a:solidFill>
                  <a:srgbClr val="1F2937"/>
                </a:solidFill>
                <a:latin typeface="Roboto"/>
              </a:rPr>
              <a:t>PT3 Fabricación 3D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2889504"/>
            <a:ext cx="146304" cy="146304"/>
          </a:xfrm>
          <a:prstGeom prst="roundRect">
            <a:avLst>
              <a:gd name="adj" fmla="val 12000"/>
            </a:avLst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2871216"/>
            <a:ext cx="15544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70" b="0">
                <a:solidFill>
                  <a:srgbClr val="1F2937"/>
                </a:solidFill>
                <a:latin typeface="Roboto"/>
              </a:rPr>
              <a:t>PT4 Electrónica y sensores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273552"/>
            <a:ext cx="146304" cy="146304"/>
          </a:xfrm>
          <a:prstGeom prst="roundRect">
            <a:avLst>
              <a:gd name="adj" fmla="val 12000"/>
            </a:avLst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3255264"/>
            <a:ext cx="15544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70" b="0">
                <a:solidFill>
                  <a:srgbClr val="1F2937"/>
                </a:solidFill>
                <a:latin typeface="Roboto"/>
              </a:rPr>
              <a:t>PT5 PCB y arnés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24327" y="1737360"/>
            <a:ext cx="146304" cy="146304"/>
          </a:xfrm>
          <a:prstGeom prst="roundRect">
            <a:avLst>
              <a:gd name="adj" fmla="val 12000"/>
            </a:avLst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25496" y="1719072"/>
            <a:ext cx="15544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70" b="0">
                <a:solidFill>
                  <a:srgbClr val="1F2937"/>
                </a:solidFill>
                <a:latin typeface="Roboto"/>
              </a:rPr>
              <a:t>PT6 Firmware local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24327" y="2121408"/>
            <a:ext cx="146304" cy="146304"/>
          </a:xfrm>
          <a:prstGeom prst="roundRect">
            <a:avLst>
              <a:gd name="adj" fmla="val 12000"/>
            </a:avLst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25496" y="2103120"/>
            <a:ext cx="15544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70" b="0">
                <a:solidFill>
                  <a:srgbClr val="1F2937"/>
                </a:solidFill>
                <a:latin typeface="Roboto"/>
              </a:rPr>
              <a:t>PT7 Backend e interfaz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24327" y="2505456"/>
            <a:ext cx="146304" cy="146304"/>
          </a:xfrm>
          <a:prstGeom prst="roundRect">
            <a:avLst>
              <a:gd name="adj" fmla="val 12000"/>
            </a:avLst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25496" y="2487168"/>
            <a:ext cx="15544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70" b="0">
                <a:solidFill>
                  <a:srgbClr val="1F2937"/>
                </a:solidFill>
                <a:latin typeface="Roboto"/>
              </a:rPr>
              <a:t>PT8 Dosificación e iluminación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24327" y="2889504"/>
            <a:ext cx="146304" cy="146304"/>
          </a:xfrm>
          <a:prstGeom prst="roundRect">
            <a:avLst>
              <a:gd name="adj" fmla="val 12000"/>
            </a:avLst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25496" y="2871216"/>
            <a:ext cx="15544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70" b="0">
                <a:solidFill>
                  <a:srgbClr val="1F2937"/>
                </a:solidFill>
                <a:latin typeface="Roboto"/>
              </a:rPr>
              <a:t>PT9 Integración y documentación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3794760"/>
            <a:ext cx="14173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1">
                <a:solidFill>
                  <a:srgbClr val="0277BD"/>
                </a:solidFill>
                <a:latin typeface="Montserrat"/>
              </a:rPr>
              <a:t>Riesgos principales (8)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023360"/>
            <a:ext cx="3429000" cy="1417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90">
                <a:solidFill>
                  <a:srgbClr val="1F2937"/>
                </a:solidFill>
                <a:latin typeface="Roboto"/>
              </a:rPr>
              <a:t>• Fugas u obstrucciones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90">
                <a:solidFill>
                  <a:srgbClr val="1F2937"/>
                </a:solidFill>
                <a:latin typeface="Roboto"/>
              </a:rPr>
              <a:t>• Pérdida de conexión o energía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90">
                <a:solidFill>
                  <a:srgbClr val="1F2937"/>
                </a:solidFill>
                <a:latin typeface="Roboto"/>
              </a:rPr>
              <a:t>• Sobredosificación / error de calibración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90">
                <a:solidFill>
                  <a:srgbClr val="1F2937"/>
                </a:solidFill>
                <a:latin typeface="Roboto"/>
              </a:rPr>
              <a:t>• Retrasos de compra e integración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00600" y="1280160"/>
            <a:ext cx="6949440" cy="475488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54880" y="1234440"/>
            <a:ext cx="694944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919472" y="1399032"/>
            <a:ext cx="6620255" cy="301752"/>
          </a:xfrm>
          <a:prstGeom prst="roundRect">
            <a:avLst>
              <a:gd name="adj" fmla="val 12000"/>
            </a:avLst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10912" y="1435608"/>
            <a:ext cx="6437375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0277BD"/>
                </a:solidFill>
                <a:latin typeface="Montserrat"/>
              </a:rPr>
              <a:t>Espacio para evidencias / capturas</a:t>
            </a:r>
          </a:p>
        </p:txBody>
      </p:sp>
      <p:pic>
        <p:nvPicPr>
          <p:cNvPr id="36" name="Picture 35" descr="image-5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9969" y="1828800"/>
            <a:ext cx="2819261" cy="364845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956048" y="5623559"/>
            <a:ext cx="6547103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50" b="0">
                <a:solidFill>
                  <a:srgbClr val="6B7280"/>
                </a:solidFill>
                <a:latin typeface="Roboto"/>
              </a:rPr>
              <a:t>E2P1_Plan_Detallado · paquetes, riesgos, costo y tiempo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5488" y="6565392"/>
            <a:ext cx="11228832" cy="27432"/>
          </a:xfrm>
          <a:prstGeom prst="rect">
            <a:avLst/>
          </a:prstGeom>
          <a:solidFill>
            <a:srgbClr val="DD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02920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2E7D32"/>
                </a:solidFill>
                <a:latin typeface="Montserrat"/>
              </a:rPr>
              <a:t>INICIAR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5028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5028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ORGANIZAR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987137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87137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ontserrat"/>
              </a:rPr>
              <a:t>IMPLEMENTAR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229246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29246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ontserrat"/>
              </a:rPr>
              <a:t>VERIFICAR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471355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71355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ontserrat"/>
              </a:rPr>
              <a:t>FINALIZAR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8" y="6620256"/>
            <a:ext cx="347472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Roboto"/>
              </a:rPr>
              <a:t>EC0935 · Gestión de trabajo por proyectos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23444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ORGANIZAR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37160"/>
            <a:ext cx="1389888" cy="310896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539496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400" b="1">
                <a:solidFill>
                  <a:srgbClr val="2E7D32"/>
                </a:solidFill>
                <a:latin typeface="Montserrat"/>
              </a:rPr>
              <a:t>6. Organización del equipo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87552"/>
            <a:ext cx="960120" cy="27432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ydromate_small_ac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73152"/>
            <a:ext cx="658368" cy="6583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1356848" y="146304"/>
            <a:ext cx="512064" cy="512064"/>
          </a:xfrm>
          <a:prstGeom prst="roundRect">
            <a:avLst>
              <a:gd name="adj" fmla="val 12000"/>
            </a:avLst>
          </a:prstGeom>
          <a:solidFill>
            <a:srgbClr val="E9F5EA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649456" y="438912"/>
            <a:ext cx="219456" cy="219456"/>
          </a:xfrm>
          <a:prstGeom prst="roundRect">
            <a:avLst>
              <a:gd name="adj" fmla="val 12000"/>
            </a:avLst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3977639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81328"/>
            <a:ext cx="34747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Montserrat"/>
              </a:rPr>
              <a:t>Organigrama funcional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17320" y="1874519"/>
            <a:ext cx="2103120" cy="640080"/>
          </a:xfrm>
          <a:prstGeom prst="roundRect">
            <a:avLst>
              <a:gd name="adj" fmla="val 12000"/>
            </a:avLst>
          </a:prstGeom>
          <a:solidFill>
            <a:srgbClr val="E9F5EA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1993392"/>
            <a:ext cx="192024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ontserrat"/>
              </a:rPr>
              <a:t>Kevin Osmar Valdez Meza
Líder general del proyecto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32304" y="2523744"/>
            <a:ext cx="4572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0" y="2889504"/>
            <a:ext cx="260604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3232" y="2999232"/>
            <a:ext cx="102412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145536"/>
            <a:ext cx="9144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100" b="1">
                <a:solidFill>
                  <a:srgbClr val="0277BD"/>
                </a:solidFill>
                <a:latin typeface="Montserrat"/>
              </a:rPr>
              <a:t>Mariana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3383280"/>
            <a:ext cx="91440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Roboto"/>
              </a:rPr>
              <a:t>Criterios
hidropónicos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2999232"/>
            <a:ext cx="102412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83664" y="3145536"/>
            <a:ext cx="9144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100" b="1">
                <a:solidFill>
                  <a:srgbClr val="0277BD"/>
                </a:solidFill>
                <a:latin typeface="Montserrat"/>
              </a:rPr>
              <a:t>Kevin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83664" y="3383280"/>
            <a:ext cx="91440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Roboto"/>
              </a:rPr>
              <a:t>Integración y
seguimiento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44368" y="2999232"/>
            <a:ext cx="102412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99232" y="3145536"/>
            <a:ext cx="9144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100" b="1">
                <a:solidFill>
                  <a:srgbClr val="0277BD"/>
                </a:solidFill>
                <a:latin typeface="Montserrat"/>
              </a:rPr>
              <a:t>Diego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9232" y="3383280"/>
            <a:ext cx="91440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Roboto"/>
              </a:rPr>
              <a:t>Revisión
electrónica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224528"/>
            <a:ext cx="347472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20">
                <a:solidFill>
                  <a:srgbClr val="1F2937"/>
                </a:solidFill>
                <a:latin typeface="Roboto"/>
              </a:rPr>
              <a:t>• Roles definidos y autorizados en la junta de presentación del plan.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20">
                <a:solidFill>
                  <a:srgbClr val="1F2937"/>
                </a:solidFill>
                <a:latin typeface="Roboto"/>
              </a:rPr>
              <a:t>• Base para coordinar implementación, validación y cierre.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00600" y="1280160"/>
            <a:ext cx="6949440" cy="475488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54880" y="1234440"/>
            <a:ext cx="694944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919472" y="1399032"/>
            <a:ext cx="6620255" cy="301752"/>
          </a:xfrm>
          <a:prstGeom prst="roundRect">
            <a:avLst>
              <a:gd name="adj" fmla="val 12000"/>
            </a:avLst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10912" y="1435608"/>
            <a:ext cx="6437375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0277BD"/>
                </a:solidFill>
                <a:latin typeface="Montserrat"/>
              </a:rPr>
              <a:t>Espacio para evidencias / capturas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56048" y="1801368"/>
            <a:ext cx="6547103" cy="1911095"/>
          </a:xfrm>
          <a:prstGeom prst="roundRect">
            <a:avLst>
              <a:gd name="adj" fmla="val 12000"/>
            </a:avLst>
          </a:prstGeom>
          <a:solidFill>
            <a:srgbClr val="FCFCFC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-6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8946" y="1874519"/>
            <a:ext cx="1321307" cy="170992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001768" y="3630168"/>
            <a:ext cx="6455664" cy="731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80" b="0">
                <a:solidFill>
                  <a:srgbClr val="6B7280"/>
                </a:solidFill>
                <a:latin typeface="Roboto"/>
              </a:rPr>
              <a:t>E2P1 · roles, tiempos y riesgos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56048" y="3803904"/>
            <a:ext cx="6547103" cy="1911095"/>
          </a:xfrm>
          <a:prstGeom prst="roundRect">
            <a:avLst>
              <a:gd name="adj" fmla="val 12000"/>
            </a:avLst>
          </a:prstGeom>
          <a:solidFill>
            <a:srgbClr val="FCFCFC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-6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8946" y="3877056"/>
            <a:ext cx="1321307" cy="17099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001768" y="5632703"/>
            <a:ext cx="6455664" cy="731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80" b="0">
                <a:solidFill>
                  <a:srgbClr val="6B7280"/>
                </a:solidFill>
                <a:latin typeface="Roboto"/>
              </a:rPr>
              <a:t>E2P2_Reporte_Junta_Presentacion · autorización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" y="6565392"/>
            <a:ext cx="11228832" cy="27432"/>
          </a:xfrm>
          <a:prstGeom prst="rect">
            <a:avLst/>
          </a:prstGeom>
          <a:solidFill>
            <a:srgbClr val="DD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02920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2E7D32"/>
                </a:solidFill>
                <a:latin typeface="Montserrat"/>
              </a:rPr>
              <a:t>INICIAR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5028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5028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ORGANIZAR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87137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87137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ontserrat"/>
              </a:rPr>
              <a:t>IMPLEMENTAR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29246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29246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ontserrat"/>
              </a:rPr>
              <a:t>VERIFICAR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471355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71355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ontserrat"/>
              </a:rPr>
              <a:t>FINALIZAR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" y="6620256"/>
            <a:ext cx="347472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Roboto"/>
              </a:rPr>
              <a:t>EC0935 · Gestión de trabajo por proyectos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23444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IMPLEMENTAR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37160"/>
            <a:ext cx="1389888" cy="310896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539496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400" b="1">
                <a:solidFill>
                  <a:srgbClr val="2E7D32"/>
                </a:solidFill>
                <a:latin typeface="Montserrat"/>
              </a:rPr>
              <a:t>7. Proveedores externos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87552"/>
            <a:ext cx="960120" cy="27432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ydromate_small_ac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73152"/>
            <a:ext cx="658368" cy="6583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1356848" y="146304"/>
            <a:ext cx="512064" cy="512064"/>
          </a:xfrm>
          <a:prstGeom prst="roundRect">
            <a:avLst>
              <a:gd name="adj" fmla="val 12000"/>
            </a:avLst>
          </a:prstGeom>
          <a:solidFill>
            <a:srgbClr val="E9F5EA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649456" y="438912"/>
            <a:ext cx="219456" cy="219456"/>
          </a:xfrm>
          <a:prstGeom prst="roundRect">
            <a:avLst>
              <a:gd name="adj" fmla="val 12000"/>
            </a:avLst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3977639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572768"/>
            <a:ext cx="347472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1682495"/>
            <a:ext cx="3255263" cy="219456"/>
          </a:xfrm>
          <a:prstGeom prst="roundRect">
            <a:avLst>
              <a:gd name="adj" fmla="val 12000"/>
            </a:avLst>
          </a:prstGeom>
          <a:solidFill>
            <a:srgbClr val="E9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705356"/>
            <a:ext cx="3145536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Montserrat"/>
              </a:rPr>
              <a:t>Baja Maker 3D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1993392"/>
            <a:ext cx="3145536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Roboto"/>
              </a:rPr>
              <a:t>Impresión 3D y mecanizado de componentes del prototipo.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" y="2505456"/>
            <a:ext cx="1005840" cy="201168"/>
          </a:xfrm>
          <a:prstGeom prst="roundRect">
            <a:avLst>
              <a:gd name="adj" fmla="val 12000"/>
            </a:avLst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528316"/>
            <a:ext cx="82296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>
                <a:solidFill>
                  <a:srgbClr val="0277BD"/>
                </a:solidFill>
                <a:latin typeface="Montserrat"/>
              </a:rPr>
              <a:t>$700 MXN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063240"/>
            <a:ext cx="347472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" y="3172968"/>
            <a:ext cx="3255263" cy="219456"/>
          </a:xfrm>
          <a:prstGeom prst="roundRect">
            <a:avLst>
              <a:gd name="adj" fmla="val 12000"/>
            </a:avLst>
          </a:prstGeom>
          <a:solidFill>
            <a:srgbClr val="E9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195828"/>
            <a:ext cx="3145536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Montserrat"/>
              </a:rPr>
              <a:t>Ensamble PCB Tijuana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483864"/>
            <a:ext cx="3145536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Roboto"/>
              </a:rPr>
              <a:t>Arneses y apoyo para interconexión / potencia.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" y="3995928"/>
            <a:ext cx="1005840" cy="201168"/>
          </a:xfrm>
          <a:prstGeom prst="roundRect">
            <a:avLst>
              <a:gd name="adj" fmla="val 12000"/>
            </a:avLst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018787"/>
            <a:ext cx="82296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>
                <a:solidFill>
                  <a:srgbClr val="0277BD"/>
                </a:solidFill>
                <a:latin typeface="Montserrat"/>
              </a:rPr>
              <a:t>$650 MXN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590288"/>
            <a:ext cx="3456432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70">
                <a:solidFill>
                  <a:srgbClr val="1F2937"/>
                </a:solidFill>
                <a:latin typeface="Roboto"/>
              </a:rPr>
              <a:t>• Selección basada en experiencia, costo, tiempo de entrega y capacidad de corrección.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70">
                <a:solidFill>
                  <a:srgbClr val="1F2937"/>
                </a:solidFill>
                <a:latin typeface="Roboto"/>
              </a:rPr>
              <a:t>• Documentos soporte: E3P1, E3P2 y E3P3.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00600" y="1280160"/>
            <a:ext cx="6949440" cy="475488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754880" y="1234440"/>
            <a:ext cx="694944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919472" y="1399032"/>
            <a:ext cx="6620255" cy="301752"/>
          </a:xfrm>
          <a:prstGeom prst="roundRect">
            <a:avLst>
              <a:gd name="adj" fmla="val 12000"/>
            </a:avLst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10912" y="1435608"/>
            <a:ext cx="6437375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0277BD"/>
                </a:solidFill>
                <a:latin typeface="Montserrat"/>
              </a:rPr>
              <a:t>Espacio para evidencias / capturas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56048" y="1801368"/>
            <a:ext cx="6547103" cy="1243584"/>
          </a:xfrm>
          <a:prstGeom prst="roundRect">
            <a:avLst>
              <a:gd name="adj" fmla="val 12000"/>
            </a:avLst>
          </a:prstGeom>
          <a:solidFill>
            <a:srgbClr val="FCFCFC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-7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9782" y="1865376"/>
            <a:ext cx="819634" cy="106070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001768" y="2971800"/>
            <a:ext cx="6455664" cy="731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Roboto"/>
              </a:rPr>
              <a:t>E3P1 · paquetes externos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56048" y="3136392"/>
            <a:ext cx="6547103" cy="1243584"/>
          </a:xfrm>
          <a:prstGeom prst="roundRect">
            <a:avLst>
              <a:gd name="adj" fmla="val 12000"/>
            </a:avLst>
          </a:prstGeom>
          <a:solidFill>
            <a:srgbClr val="FCFCFC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-7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9782" y="3200400"/>
            <a:ext cx="819634" cy="106070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001768" y="4306824"/>
            <a:ext cx="6455664" cy="731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Roboto"/>
              </a:rPr>
              <a:t>E3P2 · proveedores calificados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56048" y="4471416"/>
            <a:ext cx="6547103" cy="1243584"/>
          </a:xfrm>
          <a:prstGeom prst="roundRect">
            <a:avLst>
              <a:gd name="adj" fmla="val 12000"/>
            </a:avLst>
          </a:prstGeom>
          <a:solidFill>
            <a:srgbClr val="FCFCFC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-7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9782" y="4535424"/>
            <a:ext cx="819634" cy="106070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001768" y="5641848"/>
            <a:ext cx="6455664" cy="731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Roboto"/>
              </a:rPr>
              <a:t>E3P3 · trabajo contratado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5488" y="6565392"/>
            <a:ext cx="11228832" cy="27432"/>
          </a:xfrm>
          <a:prstGeom prst="rect">
            <a:avLst/>
          </a:prstGeom>
          <a:solidFill>
            <a:srgbClr val="DD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02920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2E7D32"/>
                </a:solidFill>
                <a:latin typeface="Montserrat"/>
              </a:rPr>
              <a:t>INICIAR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5028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5028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2E7D32"/>
                </a:solidFill>
                <a:latin typeface="Montserrat"/>
              </a:rPr>
              <a:t>ORGANIZAR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87137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87137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IMPLEMENTAR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229246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29246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ontserrat"/>
              </a:rPr>
              <a:t>VERIFICAR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471355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71355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ontserrat"/>
              </a:rPr>
              <a:t>FINALIZAR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8" y="6620256"/>
            <a:ext cx="347472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Roboto"/>
              </a:rPr>
              <a:t>EC0935 · Gestión de trabajo por proyectos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23444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IMPLEMENTAR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37160"/>
            <a:ext cx="1389888" cy="310896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539496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400" b="1">
                <a:solidFill>
                  <a:srgbClr val="2E7D32"/>
                </a:solidFill>
                <a:latin typeface="Montserrat"/>
              </a:rPr>
              <a:t>8. Avance y control de cambios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87552"/>
            <a:ext cx="960120" cy="27432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ydromate_small_ac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73152"/>
            <a:ext cx="658368" cy="6583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1356848" y="146304"/>
            <a:ext cx="512064" cy="512064"/>
          </a:xfrm>
          <a:prstGeom prst="roundRect">
            <a:avLst>
              <a:gd name="adj" fmla="val 12000"/>
            </a:avLst>
          </a:prstGeom>
          <a:solidFill>
            <a:srgbClr val="E9F5EA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649456" y="438912"/>
            <a:ext cx="219456" cy="219456"/>
          </a:xfrm>
          <a:prstGeom prst="roundRect">
            <a:avLst>
              <a:gd name="adj" fmla="val 12000"/>
            </a:avLst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3977639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81328"/>
            <a:ext cx="21945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0277BD"/>
                </a:solidFill>
                <a:latin typeface="Montserrat"/>
              </a:rPr>
              <a:t>Corte: 30 de octubre de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810512"/>
            <a:ext cx="10972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1">
                <a:solidFill>
                  <a:srgbClr val="1F2937"/>
                </a:solidFill>
                <a:latin typeface="Montserrat"/>
              </a:rPr>
              <a:t>PT1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92807" y="1828800"/>
            <a:ext cx="1965960" cy="146304"/>
          </a:xfrm>
          <a:prstGeom prst="roundRect">
            <a:avLst>
              <a:gd name="adj" fmla="val 12000"/>
            </a:avLst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892807" y="1828800"/>
            <a:ext cx="1965960" cy="146304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0" y="1801368"/>
            <a:ext cx="6400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Roboto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801368"/>
            <a:ext cx="3657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Roboto"/>
              </a:rPr>
              <a:t>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176272"/>
            <a:ext cx="10972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1">
                <a:solidFill>
                  <a:srgbClr val="1F2937"/>
                </a:solidFill>
                <a:latin typeface="Montserrat"/>
              </a:rPr>
              <a:t>PT2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92807" y="2194560"/>
            <a:ext cx="1965960" cy="146304"/>
          </a:xfrm>
          <a:prstGeom prst="roundRect">
            <a:avLst>
              <a:gd name="adj" fmla="val 12000"/>
            </a:avLst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892807" y="2194560"/>
            <a:ext cx="1965960" cy="146304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0" y="2167128"/>
            <a:ext cx="6400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Roboto"/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167128"/>
            <a:ext cx="3657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Roboto"/>
              </a:rPr>
              <a:t>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2542032"/>
            <a:ext cx="10972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1">
                <a:solidFill>
                  <a:srgbClr val="1F2937"/>
                </a:solidFill>
                <a:latin typeface="Montserrat"/>
              </a:rPr>
              <a:t>PT3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92807" y="2560320"/>
            <a:ext cx="1965960" cy="146304"/>
          </a:xfrm>
          <a:prstGeom prst="roundRect">
            <a:avLst>
              <a:gd name="adj" fmla="val 12000"/>
            </a:avLst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892807" y="2560320"/>
            <a:ext cx="1965960" cy="146304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0" y="2532888"/>
            <a:ext cx="6400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Roboto"/>
              </a:rPr>
              <a:t>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2532888"/>
            <a:ext cx="3657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Roboto"/>
              </a:rPr>
              <a:t>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2907792"/>
            <a:ext cx="10972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1">
                <a:solidFill>
                  <a:srgbClr val="1F2937"/>
                </a:solidFill>
                <a:latin typeface="Montserrat"/>
              </a:rPr>
              <a:t>PT4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92807" y="2926080"/>
            <a:ext cx="1965960" cy="146304"/>
          </a:xfrm>
          <a:prstGeom prst="roundRect">
            <a:avLst>
              <a:gd name="adj" fmla="val 12000"/>
            </a:avLst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892807" y="2926080"/>
            <a:ext cx="1081278" cy="146304"/>
          </a:xfrm>
          <a:prstGeom prst="roundRect">
            <a:avLst>
              <a:gd name="adj" fmla="val 12000"/>
            </a:avLst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31920" y="2898648"/>
            <a:ext cx="6400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Roboto"/>
              </a:rPr>
              <a:t>55%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2898648"/>
            <a:ext cx="3657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Roboto"/>
              </a:rPr>
              <a:t>En proceso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3273552"/>
            <a:ext cx="10972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1">
                <a:solidFill>
                  <a:srgbClr val="1F2937"/>
                </a:solidFill>
                <a:latin typeface="Montserrat"/>
              </a:rPr>
              <a:t>PT5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92807" y="3291840"/>
            <a:ext cx="1965960" cy="146304"/>
          </a:xfrm>
          <a:prstGeom prst="roundRect">
            <a:avLst>
              <a:gd name="adj" fmla="val 12000"/>
            </a:avLst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31920" y="3264408"/>
            <a:ext cx="6400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>
                <a:solidFill>
                  <a:srgbClr val="EF4444"/>
                </a:solidFill>
                <a:latin typeface="Roboto"/>
              </a:rPr>
              <a:t>Cancelado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3639312"/>
            <a:ext cx="10972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1">
                <a:solidFill>
                  <a:srgbClr val="1F2937"/>
                </a:solidFill>
                <a:latin typeface="Montserrat"/>
              </a:rPr>
              <a:t>PT7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892807" y="3657600"/>
            <a:ext cx="1965960" cy="146304"/>
          </a:xfrm>
          <a:prstGeom prst="roundRect">
            <a:avLst>
              <a:gd name="adj" fmla="val 12000"/>
            </a:avLst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892807" y="3657600"/>
            <a:ext cx="884682" cy="146304"/>
          </a:xfrm>
          <a:prstGeom prst="roundRect">
            <a:avLst>
              <a:gd name="adj" fmla="val 12000"/>
            </a:avLst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0" y="3630168"/>
            <a:ext cx="6400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Roboto"/>
              </a:rPr>
              <a:t>45%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3630168"/>
            <a:ext cx="3657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Roboto"/>
              </a:rPr>
              <a:t>En proceso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005072"/>
            <a:ext cx="10972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1">
                <a:solidFill>
                  <a:srgbClr val="1F2937"/>
                </a:solidFill>
                <a:latin typeface="Montserrat"/>
              </a:rPr>
              <a:t>PT8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892807" y="4023360"/>
            <a:ext cx="1965960" cy="146304"/>
          </a:xfrm>
          <a:prstGeom prst="roundRect">
            <a:avLst>
              <a:gd name="adj" fmla="val 12000"/>
            </a:avLst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892807" y="4023360"/>
            <a:ext cx="196596" cy="146304"/>
          </a:xfrm>
          <a:prstGeom prst="roundRect">
            <a:avLst>
              <a:gd name="adj" fmla="val 12000"/>
            </a:avLst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31920" y="3995928"/>
            <a:ext cx="6400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Roboto"/>
              </a:rPr>
              <a:t>10%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3995928"/>
            <a:ext cx="3657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Roboto"/>
              </a:rPr>
              <a:t>Pendiente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4590288"/>
            <a:ext cx="3474720" cy="713232"/>
          </a:xfrm>
          <a:prstGeom prst="roundRect">
            <a:avLst>
              <a:gd name="adj" fmla="val 12000"/>
            </a:avLst>
          </a:prstGeom>
          <a:solidFill>
            <a:srgbClr val="FEF2F2"/>
          </a:solidFill>
          <a:ln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" y="4718304"/>
            <a:ext cx="3657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1">
                <a:solidFill>
                  <a:srgbClr val="EF4444"/>
                </a:solidFill>
                <a:latin typeface="Montserrat"/>
              </a:rPr>
              <a:t>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34440" y="4718304"/>
            <a:ext cx="27889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10" b="0">
                <a:solidFill>
                  <a:srgbClr val="1F2937"/>
                </a:solidFill>
                <a:latin typeface="Roboto"/>
              </a:rPr>
              <a:t>Alerta: el PT5 externo se cancela y su alcance se internaliza para simplificar la integración.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800600" y="1280160"/>
            <a:ext cx="6949440" cy="475488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754880" y="1234440"/>
            <a:ext cx="694944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919472" y="1399032"/>
            <a:ext cx="6620255" cy="301752"/>
          </a:xfrm>
          <a:prstGeom prst="roundRect">
            <a:avLst>
              <a:gd name="adj" fmla="val 12000"/>
            </a:avLst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10912" y="1435608"/>
            <a:ext cx="6437375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0277BD"/>
                </a:solidFill>
                <a:latin typeface="Montserrat"/>
              </a:rPr>
              <a:t>Espacio para evidencias / capturas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956048" y="1801368"/>
            <a:ext cx="6547103" cy="1911095"/>
          </a:xfrm>
          <a:prstGeom prst="roundRect">
            <a:avLst>
              <a:gd name="adj" fmla="val 12000"/>
            </a:avLst>
          </a:prstGeom>
          <a:solidFill>
            <a:srgbClr val="FCFCFC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0bd57498-f697-5666-8c36-cba002712d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1615" y="1874519"/>
            <a:ext cx="755968" cy="170992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5001768" y="3630168"/>
            <a:ext cx="6455664" cy="731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80" b="0">
                <a:solidFill>
                  <a:srgbClr val="6B7280"/>
                </a:solidFill>
                <a:latin typeface="Roboto"/>
              </a:rPr>
              <a:t>Imagen conceptual / física del prototipo HydroMate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956048" y="3803904"/>
            <a:ext cx="6547103" cy="1911095"/>
          </a:xfrm>
          <a:prstGeom prst="roundRect">
            <a:avLst>
              <a:gd name="adj" fmla="val 12000"/>
            </a:avLst>
          </a:prstGeom>
          <a:solidFill>
            <a:srgbClr val="FCFCFC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-8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8946" y="3877056"/>
            <a:ext cx="1321307" cy="170992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5001768" y="5632703"/>
            <a:ext cx="6455664" cy="731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80" b="0">
                <a:solidFill>
                  <a:srgbClr val="6B7280"/>
                </a:solidFill>
                <a:latin typeface="Roboto"/>
              </a:rPr>
              <a:t>E3P5 · evidencia física de base 3D / integración preliminar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5488" y="6565392"/>
            <a:ext cx="11228832" cy="27432"/>
          </a:xfrm>
          <a:prstGeom prst="rect">
            <a:avLst/>
          </a:prstGeom>
          <a:solidFill>
            <a:srgbClr val="DD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502920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2E7D32"/>
                </a:solidFill>
                <a:latin typeface="Montserrat"/>
              </a:rPr>
              <a:t>INICIAR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745028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45028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2E7D32"/>
                </a:solidFill>
                <a:latin typeface="Montserrat"/>
              </a:rPr>
              <a:t>ORGANIZAR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987137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87137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IMPLEMENTAR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229246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229246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ontserrat"/>
              </a:rPr>
              <a:t>VERIFICAR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471355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471355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ontserrat"/>
              </a:rPr>
              <a:t>FINALIZAR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5488" y="6620256"/>
            <a:ext cx="347472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Roboto"/>
              </a:rPr>
              <a:t>EC0935 · Gestión de trabajo por proyectos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23444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VERIFICAR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37160"/>
            <a:ext cx="1389888" cy="310896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539496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400" b="1">
                <a:solidFill>
                  <a:srgbClr val="2E7D32"/>
                </a:solidFill>
                <a:latin typeface="Montserrat"/>
              </a:rPr>
              <a:t>9. Control, presupuesto y estado actual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87552"/>
            <a:ext cx="960120" cy="27432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ydromate_small_ac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73152"/>
            <a:ext cx="658368" cy="6583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1356848" y="146304"/>
            <a:ext cx="512064" cy="512064"/>
          </a:xfrm>
          <a:prstGeom prst="roundRect">
            <a:avLst>
              <a:gd name="adj" fmla="val 12000"/>
            </a:avLst>
          </a:prstGeom>
          <a:solidFill>
            <a:srgbClr val="E9F5EA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649456" y="438912"/>
            <a:ext cx="219456" cy="219456"/>
          </a:xfrm>
          <a:prstGeom prst="roundRect">
            <a:avLst>
              <a:gd name="adj" fmla="val 12000"/>
            </a:avLst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3977639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81328"/>
            <a:ext cx="160020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481328"/>
            <a:ext cx="1600200" cy="45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591056"/>
            <a:ext cx="1344168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Montserrat"/>
              </a:rPr>
              <a:t>Costo ajustado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1865376"/>
            <a:ext cx="134416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Montserrat"/>
              </a:rPr>
              <a:t>$6,245 MXN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87168" y="1481328"/>
            <a:ext cx="160020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87168" y="1481328"/>
            <a:ext cx="1600200" cy="45720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15184" y="1591056"/>
            <a:ext cx="1344168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0277BD"/>
                </a:solidFill>
                <a:latin typeface="Montserrat"/>
              </a:rPr>
              <a:t>Pagado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15184" y="1865376"/>
            <a:ext cx="134416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Montserrat"/>
              </a:rPr>
              <a:t>$5,730 MXN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907792"/>
            <a:ext cx="160020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2907792"/>
            <a:ext cx="1600200" cy="45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3017520"/>
            <a:ext cx="1344168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Montserrat"/>
              </a:rPr>
              <a:t>Comprometido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3291840"/>
            <a:ext cx="134416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Montserrat"/>
              </a:rPr>
              <a:t>$6,045 MXN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87168" y="2907792"/>
            <a:ext cx="160020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87168" y="2907792"/>
            <a:ext cx="1600200" cy="45720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15184" y="3017520"/>
            <a:ext cx="1344168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0277BD"/>
                </a:solidFill>
                <a:latin typeface="Montserrat"/>
              </a:rPr>
              <a:t>Estado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15184" y="3291840"/>
            <a:ext cx="134416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Montserrat"/>
              </a:rPr>
              <a:t>EN TIEMPO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407408"/>
            <a:ext cx="3355848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4407408"/>
            <a:ext cx="3355848" cy="45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4517136"/>
            <a:ext cx="3099815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Montserrat"/>
              </a:rPr>
              <a:t>Cambios autorizados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4791456"/>
            <a:ext cx="3099815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80">
                <a:solidFill>
                  <a:srgbClr val="1F2937"/>
                </a:solidFill>
                <a:latin typeface="Roboto"/>
              </a:rPr>
              <a:t>• Cambio 001: PT5 se internaliza.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80">
                <a:solidFill>
                  <a:srgbClr val="1F2937"/>
                </a:solidFill>
                <a:latin typeface="Roboto"/>
              </a:rPr>
              <a:t>• Cambio 002: sensor BH1750.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80">
                <a:solidFill>
                  <a:srgbClr val="1F2937"/>
                </a:solidFill>
                <a:latin typeface="Roboto"/>
              </a:rPr>
              <a:t>• Cambio 003: válvulas antirretorno.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00600" y="1280160"/>
            <a:ext cx="6949440" cy="475488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754880" y="1234440"/>
            <a:ext cx="694944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919472" y="1399032"/>
            <a:ext cx="6620255" cy="301752"/>
          </a:xfrm>
          <a:prstGeom prst="roundRect">
            <a:avLst>
              <a:gd name="adj" fmla="val 12000"/>
            </a:avLst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10912" y="1435608"/>
            <a:ext cx="6437375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0277BD"/>
                </a:solidFill>
                <a:latin typeface="Montserrat"/>
              </a:rPr>
              <a:t>Espacio para evidencias / capturas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56048" y="1801368"/>
            <a:ext cx="6547103" cy="1911095"/>
          </a:xfrm>
          <a:prstGeom prst="roundRect">
            <a:avLst>
              <a:gd name="adj" fmla="val 12000"/>
            </a:avLst>
          </a:prstGeom>
          <a:solidFill>
            <a:srgbClr val="FCFCFC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-9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175" y="1874519"/>
            <a:ext cx="2212848" cy="170992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001768" y="3630168"/>
            <a:ext cx="6455664" cy="731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80" b="0">
                <a:solidFill>
                  <a:srgbClr val="6B7280"/>
                </a:solidFill>
                <a:latin typeface="Roboto"/>
              </a:rPr>
              <a:t>E4P1 · cambios autorizados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56048" y="3803904"/>
            <a:ext cx="6547103" cy="1911095"/>
          </a:xfrm>
          <a:prstGeom prst="roundRect">
            <a:avLst>
              <a:gd name="adj" fmla="val 12000"/>
            </a:avLst>
          </a:prstGeom>
          <a:solidFill>
            <a:srgbClr val="FCFCFC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-10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8946" y="3877056"/>
            <a:ext cx="1321307" cy="170992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001768" y="5632703"/>
            <a:ext cx="6455664" cy="731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80" b="0">
                <a:solidFill>
                  <a:srgbClr val="6B7280"/>
                </a:solidFill>
                <a:latin typeface="Roboto"/>
              </a:rPr>
              <a:t>E4P2 · reporte de estado actual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5488" y="6565392"/>
            <a:ext cx="11228832" cy="27432"/>
          </a:xfrm>
          <a:prstGeom prst="rect">
            <a:avLst/>
          </a:prstGeom>
          <a:solidFill>
            <a:srgbClr val="DD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02920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2E7D32"/>
                </a:solidFill>
                <a:latin typeface="Montserrat"/>
              </a:rPr>
              <a:t>INICIAR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45028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5028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2E7D32"/>
                </a:solidFill>
                <a:latin typeface="Montserrat"/>
              </a:rPr>
              <a:t>ORGANIZAR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87137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87137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2E7D32"/>
                </a:solidFill>
                <a:latin typeface="Montserrat"/>
              </a:rPr>
              <a:t>IMPLEMENTAR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29246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29246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VERIFICAR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471355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71355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ontserrat"/>
              </a:rPr>
              <a:t>FINALIZAR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5488" y="6620256"/>
            <a:ext cx="347472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Roboto"/>
              </a:rPr>
              <a:t>EC0935 · Gestión de trabajo por proyectos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23444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VERIFICAR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37160"/>
            <a:ext cx="1389888" cy="310896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539496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400" b="1">
                <a:solidFill>
                  <a:srgbClr val="2E7D32"/>
                </a:solidFill>
                <a:latin typeface="Montserrat"/>
              </a:rPr>
              <a:t>10. Verificación de paquetes y listas de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87552"/>
            <a:ext cx="960120" cy="27432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ydromate_small_ac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73152"/>
            <a:ext cx="658368" cy="6583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1356848" y="146304"/>
            <a:ext cx="512064" cy="512064"/>
          </a:xfrm>
          <a:prstGeom prst="roundRect">
            <a:avLst>
              <a:gd name="adj" fmla="val 12000"/>
            </a:avLst>
          </a:prstGeom>
          <a:solidFill>
            <a:srgbClr val="E9F5EA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649456" y="438912"/>
            <a:ext cx="219456" cy="219456"/>
          </a:xfrm>
          <a:prstGeom prst="roundRect">
            <a:avLst>
              <a:gd name="adj" fmla="val 12000"/>
            </a:avLst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3977639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81328"/>
            <a:ext cx="338328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481328"/>
            <a:ext cx="3383280" cy="45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591056"/>
            <a:ext cx="3127248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Montserrat"/>
              </a:rPr>
              <a:t>Listas de verificación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1865376"/>
            <a:ext cx="3127248" cy="6217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80">
                <a:solidFill>
                  <a:srgbClr val="1F2937"/>
                </a:solidFill>
                <a:latin typeface="Roboto"/>
              </a:rPr>
              <a:t>• Paquetes concluidos cumplen criterios.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80">
                <a:solidFill>
                  <a:srgbClr val="1F2937"/>
                </a:solidFill>
                <a:latin typeface="Roboto"/>
              </a:rPr>
              <a:t>• PT5 se cierra por cambio 001 y se absorbe en PT4.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788920"/>
            <a:ext cx="1609344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788920"/>
            <a:ext cx="1609344" cy="45720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2898648"/>
            <a:ext cx="135331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0277BD"/>
                </a:solidFill>
                <a:latin typeface="Montserrat"/>
              </a:rPr>
              <a:t>Prioridades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3172968"/>
            <a:ext cx="1353312" cy="10789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80">
                <a:solidFill>
                  <a:srgbClr val="1F2937"/>
                </a:solidFill>
                <a:latin typeface="Roboto"/>
              </a:rPr>
              <a:t>• Cerrar PT4/PT6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80">
                <a:solidFill>
                  <a:srgbClr val="1F2937"/>
                </a:solidFill>
                <a:latin typeface="Roboto"/>
              </a:rPr>
              <a:t>• Completar PT8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80">
                <a:solidFill>
                  <a:srgbClr val="1F2937"/>
                </a:solidFill>
                <a:latin typeface="Roboto"/>
              </a:rPr>
              <a:t>• Ejecutar pruebas integrales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05456" y="2788920"/>
            <a:ext cx="1609344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05456" y="2788920"/>
            <a:ext cx="1609344" cy="45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33472" y="2898648"/>
            <a:ext cx="135331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Montserrat"/>
              </a:rPr>
              <a:t>Riesgos activos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33472" y="3172968"/>
            <a:ext cx="1353312" cy="10789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80">
                <a:solidFill>
                  <a:srgbClr val="1F2937"/>
                </a:solidFill>
                <a:latin typeface="Roboto"/>
              </a:rPr>
              <a:t>• Calibración pH/TDS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80">
                <a:solidFill>
                  <a:srgbClr val="1F2937"/>
                </a:solidFill>
                <a:latin typeface="Roboto"/>
              </a:rPr>
              <a:t>• Sobredosificación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80">
                <a:solidFill>
                  <a:srgbClr val="1F2937"/>
                </a:solidFill>
                <a:latin typeface="Roboto"/>
              </a:rPr>
              <a:t>• Ruido eléctrico / fugas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53712"/>
            <a:ext cx="338328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553712"/>
            <a:ext cx="3383280" cy="45720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4663440"/>
            <a:ext cx="3127248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0277BD"/>
                </a:solidFill>
                <a:latin typeface="Montserrat"/>
              </a:rPr>
              <a:t>Fecha de verificación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4937760"/>
            <a:ext cx="312724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Montserrat"/>
              </a:rPr>
              <a:t>05 dic 2026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00600" y="1280160"/>
            <a:ext cx="6949440" cy="475488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754880" y="1234440"/>
            <a:ext cx="694944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919472" y="1399032"/>
            <a:ext cx="6620255" cy="301752"/>
          </a:xfrm>
          <a:prstGeom prst="roundRect">
            <a:avLst>
              <a:gd name="adj" fmla="val 12000"/>
            </a:avLst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10912" y="1435608"/>
            <a:ext cx="6437375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0277BD"/>
                </a:solidFill>
                <a:latin typeface="Montserrat"/>
              </a:rPr>
              <a:t>Espacio para evidencias / capturas</a:t>
            </a:r>
          </a:p>
        </p:txBody>
      </p:sp>
      <p:pic>
        <p:nvPicPr>
          <p:cNvPr id="31" name="Picture 30" descr="image-10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9969" y="1828800"/>
            <a:ext cx="2819261" cy="364845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956048" y="5623559"/>
            <a:ext cx="6547103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50" b="0">
                <a:solidFill>
                  <a:srgbClr val="6B7280"/>
                </a:solidFill>
                <a:latin typeface="Roboto"/>
              </a:rPr>
              <a:t>E4P3 · verificación de paquetes terminados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6565392"/>
            <a:ext cx="11228832" cy="27432"/>
          </a:xfrm>
          <a:prstGeom prst="rect">
            <a:avLst/>
          </a:prstGeom>
          <a:solidFill>
            <a:srgbClr val="DD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2E7D32"/>
                </a:solidFill>
                <a:latin typeface="Montserrat"/>
              </a:rPr>
              <a:t>INICIAR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5028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5028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2E7D32"/>
                </a:solidFill>
                <a:latin typeface="Montserrat"/>
              </a:rPr>
              <a:t>ORGANIZAR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87137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87137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2E7D32"/>
                </a:solidFill>
                <a:latin typeface="Montserrat"/>
              </a:rPr>
              <a:t>IMPLEMENTAR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29246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29246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VERIFICAR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71355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71355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ontserrat"/>
              </a:rPr>
              <a:t>FINALIZAR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" y="6620256"/>
            <a:ext cx="347472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Roboto"/>
              </a:rPr>
              <a:t>EC0935 · Gestión de trabajo por proyectos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23444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FINALIZAR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37160"/>
            <a:ext cx="1389888" cy="310896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539496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400" b="1">
                <a:solidFill>
                  <a:srgbClr val="2E7D32"/>
                </a:solidFill>
                <a:latin typeface="Montserrat"/>
              </a:rPr>
              <a:t>11. Cierre del proyecto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87552"/>
            <a:ext cx="960120" cy="27432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ydromate_small_ac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73152"/>
            <a:ext cx="658368" cy="6583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1356848" y="146304"/>
            <a:ext cx="512064" cy="512064"/>
          </a:xfrm>
          <a:prstGeom prst="roundRect">
            <a:avLst>
              <a:gd name="adj" fmla="val 12000"/>
            </a:avLst>
          </a:prstGeom>
          <a:solidFill>
            <a:srgbClr val="E9F5EA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649456" y="438912"/>
            <a:ext cx="219456" cy="219456"/>
          </a:xfrm>
          <a:prstGeom prst="roundRect">
            <a:avLst>
              <a:gd name="adj" fmla="val 12000"/>
            </a:avLst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3977639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81328"/>
            <a:ext cx="16002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481328"/>
            <a:ext cx="1600200" cy="45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591056"/>
            <a:ext cx="1344168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Montserrat"/>
              </a:rPr>
              <a:t>Costo real final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1865376"/>
            <a:ext cx="134416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Montserrat"/>
              </a:rPr>
              <a:t>$6,045 MXN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87168" y="1481328"/>
            <a:ext cx="16002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87168" y="1481328"/>
            <a:ext cx="1600200" cy="45720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15184" y="1591056"/>
            <a:ext cx="1344168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0277BD"/>
                </a:solidFill>
                <a:latin typeface="Montserrat"/>
              </a:rPr>
              <a:t>Saldo no ejercido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15184" y="1865376"/>
            <a:ext cx="134416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Montserrat"/>
              </a:rPr>
              <a:t>$200 MXN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852928"/>
            <a:ext cx="335584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2852928"/>
            <a:ext cx="3355848" cy="45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2962656"/>
            <a:ext cx="3099815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Montserrat"/>
              </a:rPr>
              <a:t>Entregables integrados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3236976"/>
            <a:ext cx="3099815" cy="7406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80">
                <a:solidFill>
                  <a:srgbClr val="1F2937"/>
                </a:solidFill>
                <a:latin typeface="Roboto"/>
              </a:rPr>
              <a:t>• Inicio, organización, implementación, verificación y cierre.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80">
                <a:solidFill>
                  <a:srgbClr val="1F2937"/>
                </a:solidFill>
                <a:latin typeface="Roboto"/>
              </a:rPr>
              <a:t>• Diseño, hardware, software, pruebas y proveedores.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315968"/>
            <a:ext cx="3355848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315968"/>
            <a:ext cx="3355848" cy="45720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4425696"/>
            <a:ext cx="3099815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0277BD"/>
                </a:solidFill>
                <a:latin typeface="Montserrat"/>
              </a:rPr>
              <a:t>Aceptación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4700016"/>
            <a:ext cx="3099815" cy="4663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80">
                <a:solidFill>
                  <a:srgbClr val="1F2937"/>
                </a:solidFill>
                <a:latin typeface="Roboto"/>
              </a:rPr>
              <a:t>• El dueño acepta el cierre y confirma costos, evidencias y resultados.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00600" y="1280160"/>
            <a:ext cx="6949440" cy="475488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754880" y="1234440"/>
            <a:ext cx="694944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919472" y="1399032"/>
            <a:ext cx="6620255" cy="301752"/>
          </a:xfrm>
          <a:prstGeom prst="roundRect">
            <a:avLst>
              <a:gd name="adj" fmla="val 12000"/>
            </a:avLst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10912" y="1435608"/>
            <a:ext cx="6437375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0277BD"/>
                </a:solidFill>
                <a:latin typeface="Montserrat"/>
              </a:rPr>
              <a:t>Espacio para evidencias / capturas</a:t>
            </a:r>
          </a:p>
        </p:txBody>
      </p:sp>
      <p:pic>
        <p:nvPicPr>
          <p:cNvPr id="31" name="Picture 30" descr="image-11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9969" y="1828800"/>
            <a:ext cx="2819261" cy="364845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956048" y="5623559"/>
            <a:ext cx="6547103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50" b="0">
                <a:solidFill>
                  <a:srgbClr val="6B7280"/>
                </a:solidFill>
                <a:latin typeface="Roboto"/>
              </a:rPr>
              <a:t>E5P1 · reporte final del proyecto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6565392"/>
            <a:ext cx="11228832" cy="27432"/>
          </a:xfrm>
          <a:prstGeom prst="rect">
            <a:avLst/>
          </a:prstGeom>
          <a:solidFill>
            <a:srgbClr val="DD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2E7D32"/>
                </a:solidFill>
                <a:latin typeface="Montserrat"/>
              </a:rPr>
              <a:t>INICIAR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5028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5028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2E7D32"/>
                </a:solidFill>
                <a:latin typeface="Montserrat"/>
              </a:rPr>
              <a:t>ORGANIZAR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87137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87137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2E7D32"/>
                </a:solidFill>
                <a:latin typeface="Montserrat"/>
              </a:rPr>
              <a:t>IMPLEMENTAR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29246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29246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2E7D32"/>
                </a:solidFill>
                <a:latin typeface="Montserrat"/>
              </a:rPr>
              <a:t>VERIFICAR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71355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71355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FINALIZAR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" y="6620256"/>
            <a:ext cx="347472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Roboto"/>
              </a:rPr>
              <a:t>EC0935 · Gestión de trabajo por proyectos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23444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FINALIZAR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37160"/>
            <a:ext cx="1389888" cy="310896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539496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400" b="1">
                <a:solidFill>
                  <a:srgbClr val="2E7D32"/>
                </a:solidFill>
                <a:latin typeface="Montserrat"/>
              </a:rPr>
              <a:t>12. Lecciones aprendidas y cierre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87552"/>
            <a:ext cx="960120" cy="27432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ydromate_small_ac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73152"/>
            <a:ext cx="658368" cy="6583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1356848" y="146304"/>
            <a:ext cx="512064" cy="512064"/>
          </a:xfrm>
          <a:prstGeom prst="roundRect">
            <a:avLst>
              <a:gd name="adj" fmla="val 12000"/>
            </a:avLst>
          </a:prstGeom>
          <a:solidFill>
            <a:srgbClr val="E9F5EA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649456" y="438912"/>
            <a:ext cx="219456" cy="219456"/>
          </a:xfrm>
          <a:prstGeom prst="roundRect">
            <a:avLst>
              <a:gd name="adj" fmla="val 12000"/>
            </a:avLst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3977639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81328"/>
            <a:ext cx="1600200" cy="1993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481328"/>
            <a:ext cx="1600200" cy="45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591056"/>
            <a:ext cx="1344168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Montserrat"/>
              </a:rPr>
              <a:t>Qué funcionó bien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1865376"/>
            <a:ext cx="1344168" cy="1499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80">
                <a:solidFill>
                  <a:srgbClr val="1F2937"/>
                </a:solidFill>
                <a:latin typeface="Roboto"/>
              </a:rPr>
              <a:t>• Integración por etapas.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80">
                <a:solidFill>
                  <a:srgbClr val="1F2937"/>
                </a:solidFill>
                <a:latin typeface="Roboto"/>
              </a:rPr>
              <a:t>• Reglas críticas locales en ESP32.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80">
                <a:solidFill>
                  <a:srgbClr val="1F2937"/>
                </a:solidFill>
                <a:latin typeface="Roboto"/>
              </a:rPr>
              <a:t>• Seguimiento continuo de costos, riesgos y evidencias.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87168" y="1481328"/>
            <a:ext cx="1600200" cy="1993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87168" y="1481328"/>
            <a:ext cx="1600200" cy="45720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15184" y="1591056"/>
            <a:ext cx="1344168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0277BD"/>
                </a:solidFill>
                <a:latin typeface="Montserrat"/>
              </a:rPr>
              <a:t>Qué mejorar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15184" y="1865376"/>
            <a:ext cx="1344168" cy="1499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80">
                <a:solidFill>
                  <a:srgbClr val="1F2937"/>
                </a:solidFill>
                <a:latin typeface="Roboto"/>
              </a:rPr>
              <a:t>• Cerrar antes la arquitectura de dosificación.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80">
                <a:solidFill>
                  <a:srgbClr val="1F2937"/>
                </a:solidFill>
                <a:latin typeface="Roboto"/>
              </a:rPr>
              <a:t>• Simplificar decisiones de interconexión.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80">
                <a:solidFill>
                  <a:srgbClr val="1F2937"/>
                </a:solidFill>
                <a:latin typeface="Roboto"/>
              </a:rPr>
              <a:t>• Calibrar sensores con más margen.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30752"/>
            <a:ext cx="3355848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730752"/>
            <a:ext cx="3355848" cy="45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3840480"/>
            <a:ext cx="3099815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Montserrat"/>
              </a:rPr>
              <a:t>Cierre administrativo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4114800"/>
            <a:ext cx="3099815" cy="10607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80">
                <a:solidFill>
                  <a:srgbClr val="1F2937"/>
                </a:solidFill>
                <a:latin typeface="Roboto"/>
              </a:rPr>
              <a:t>• En la junta del 11/12/2026 se acepta HydroMate como concluido.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80">
                <a:solidFill>
                  <a:srgbClr val="1F2937"/>
                </a:solidFill>
                <a:latin typeface="Roboto"/>
              </a:rPr>
              <a:t>• Adeudo final: $0 MXN.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80">
                <a:solidFill>
                  <a:srgbClr val="1F2937"/>
                </a:solidFill>
                <a:latin typeface="Roboto"/>
              </a:rPr>
              <a:t>• Se dejan recomendaciones para una versión posterior más robusta.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00600" y="1280160"/>
            <a:ext cx="6949440" cy="475488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54880" y="1234440"/>
            <a:ext cx="694944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919472" y="1399032"/>
            <a:ext cx="6620255" cy="301752"/>
          </a:xfrm>
          <a:prstGeom prst="roundRect">
            <a:avLst>
              <a:gd name="adj" fmla="val 12000"/>
            </a:avLst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10912" y="1435608"/>
            <a:ext cx="6437375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0277BD"/>
                </a:solidFill>
                <a:latin typeface="Montserrat"/>
              </a:rPr>
              <a:t>Espacio para evidencias / capturas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56048" y="1801368"/>
            <a:ext cx="6547103" cy="1911095"/>
          </a:xfrm>
          <a:prstGeom prst="roundRect">
            <a:avLst>
              <a:gd name="adj" fmla="val 12000"/>
            </a:avLst>
          </a:prstGeom>
          <a:solidFill>
            <a:srgbClr val="FCFCFC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-12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8946" y="1874519"/>
            <a:ext cx="1321307" cy="170992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001768" y="3630168"/>
            <a:ext cx="6455664" cy="731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80" b="0">
                <a:solidFill>
                  <a:srgbClr val="6B7280"/>
                </a:solidFill>
                <a:latin typeface="Roboto"/>
              </a:rPr>
              <a:t>E5P1 · aprendizajes y cierre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56048" y="3803904"/>
            <a:ext cx="6547103" cy="1911095"/>
          </a:xfrm>
          <a:prstGeom prst="roundRect">
            <a:avLst>
              <a:gd name="adj" fmla="val 12000"/>
            </a:avLst>
          </a:prstGeom>
          <a:solidFill>
            <a:srgbClr val="FCFCFC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-12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8946" y="3877056"/>
            <a:ext cx="1321307" cy="170992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001768" y="5632703"/>
            <a:ext cx="6455664" cy="731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80" b="0">
                <a:solidFill>
                  <a:srgbClr val="6B7280"/>
                </a:solidFill>
                <a:latin typeface="Roboto"/>
              </a:rPr>
              <a:t>E5P2 · junta de cierre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6565392"/>
            <a:ext cx="11228832" cy="27432"/>
          </a:xfrm>
          <a:prstGeom prst="rect">
            <a:avLst/>
          </a:prstGeom>
          <a:solidFill>
            <a:srgbClr val="DD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2E7D32"/>
                </a:solidFill>
                <a:latin typeface="Montserrat"/>
              </a:rPr>
              <a:t>INICIAR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5028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5028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2E7D32"/>
                </a:solidFill>
                <a:latin typeface="Montserrat"/>
              </a:rPr>
              <a:t>ORGANIZAR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87137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87137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2E7D32"/>
                </a:solidFill>
                <a:latin typeface="Montserrat"/>
              </a:rPr>
              <a:t>IMPLEMENTAR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29246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29246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2E7D32"/>
                </a:solidFill>
                <a:latin typeface="Montserrat"/>
              </a:rPr>
              <a:t>VERIFICAR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71355" y="6400800"/>
            <a:ext cx="2187244" cy="219456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71355" y="6409944"/>
            <a:ext cx="218724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FINALIZAR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" y="6620256"/>
            <a:ext cx="347472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Roboto"/>
              </a:rPr>
              <a:t>EC0935 · Gestión de trabajo por proyectos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